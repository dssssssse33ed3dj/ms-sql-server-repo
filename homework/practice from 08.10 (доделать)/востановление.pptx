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84"/>
  </p:notesMasterIdLst>
  <p:sldIdLst>
    <p:sldId id="349" r:id="rId2"/>
    <p:sldId id="679" r:id="rId3"/>
    <p:sldId id="682" r:id="rId4"/>
    <p:sldId id="874" r:id="rId5"/>
    <p:sldId id="413" r:id="rId6"/>
    <p:sldId id="645" r:id="rId7"/>
    <p:sldId id="519" r:id="rId8"/>
    <p:sldId id="649" r:id="rId9"/>
    <p:sldId id="653" r:id="rId10"/>
    <p:sldId id="708" r:id="rId11"/>
    <p:sldId id="648" r:id="rId12"/>
    <p:sldId id="566" r:id="rId13"/>
    <p:sldId id="658" r:id="rId14"/>
    <p:sldId id="659" r:id="rId15"/>
    <p:sldId id="661" r:id="rId16"/>
    <p:sldId id="792" r:id="rId17"/>
    <p:sldId id="660" r:id="rId18"/>
    <p:sldId id="662" r:id="rId19"/>
    <p:sldId id="664" r:id="rId20"/>
    <p:sldId id="665" r:id="rId21"/>
    <p:sldId id="666" r:id="rId22"/>
    <p:sldId id="667" r:id="rId23"/>
    <p:sldId id="709" r:id="rId24"/>
    <p:sldId id="668" r:id="rId25"/>
    <p:sldId id="669" r:id="rId26"/>
    <p:sldId id="692" r:id="rId27"/>
    <p:sldId id="693" r:id="rId28"/>
    <p:sldId id="695" r:id="rId29"/>
    <p:sldId id="696" r:id="rId30"/>
    <p:sldId id="697" r:id="rId31"/>
    <p:sldId id="698" r:id="rId32"/>
    <p:sldId id="506" r:id="rId33"/>
    <p:sldId id="670" r:id="rId34"/>
    <p:sldId id="671" r:id="rId35"/>
    <p:sldId id="672" r:id="rId36"/>
    <p:sldId id="673" r:id="rId37"/>
    <p:sldId id="675" r:id="rId38"/>
    <p:sldId id="554" r:id="rId39"/>
    <p:sldId id="553" r:id="rId40"/>
    <p:sldId id="557" r:id="rId41"/>
    <p:sldId id="685" r:id="rId42"/>
    <p:sldId id="686" r:id="rId43"/>
    <p:sldId id="688" r:id="rId44"/>
    <p:sldId id="868" r:id="rId45"/>
    <p:sldId id="870" r:id="rId46"/>
    <p:sldId id="872" r:id="rId47"/>
    <p:sldId id="873" r:id="rId48"/>
    <p:sldId id="852" r:id="rId49"/>
    <p:sldId id="855" r:id="rId50"/>
    <p:sldId id="853" r:id="rId51"/>
    <p:sldId id="834" r:id="rId52"/>
    <p:sldId id="854" r:id="rId53"/>
    <p:sldId id="859" r:id="rId54"/>
    <p:sldId id="837" r:id="rId55"/>
    <p:sldId id="857" r:id="rId56"/>
    <p:sldId id="838" r:id="rId57"/>
    <p:sldId id="839" r:id="rId58"/>
    <p:sldId id="841" r:id="rId59"/>
    <p:sldId id="845" r:id="rId60"/>
    <p:sldId id="844" r:id="rId61"/>
    <p:sldId id="861" r:id="rId62"/>
    <p:sldId id="862" r:id="rId63"/>
    <p:sldId id="860" r:id="rId64"/>
    <p:sldId id="687" r:id="rId65"/>
    <p:sldId id="689" r:id="rId66"/>
    <p:sldId id="804" r:id="rId67"/>
    <p:sldId id="805" r:id="rId68"/>
    <p:sldId id="880" r:id="rId69"/>
    <p:sldId id="883" r:id="rId70"/>
    <p:sldId id="806" r:id="rId71"/>
    <p:sldId id="807" r:id="rId72"/>
    <p:sldId id="877" r:id="rId73"/>
    <p:sldId id="878" r:id="rId74"/>
    <p:sldId id="879" r:id="rId75"/>
    <p:sldId id="876" r:id="rId76"/>
    <p:sldId id="875" r:id="rId77"/>
    <p:sldId id="865" r:id="rId78"/>
    <p:sldId id="828" r:id="rId79"/>
    <p:sldId id="881" r:id="rId80"/>
    <p:sldId id="882" r:id="rId81"/>
    <p:sldId id="830" r:id="rId82"/>
    <p:sldId id="510" r:id="rId8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365" autoAdjust="0"/>
  </p:normalViewPr>
  <p:slideViewPr>
    <p:cSldViewPr>
      <p:cViewPr varScale="1">
        <p:scale>
          <a:sx n="103" d="100"/>
          <a:sy n="103" d="100"/>
        </p:scale>
        <p:origin x="124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72595-BF18-43FE-A753-776D45537547}" type="datetimeFigureOut">
              <a:rPr lang="ru-RU" smtClean="0"/>
              <a:pPr/>
              <a:t>14.05.2023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31BDD-8F0A-4E98-9CA0-944B280B822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04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fontAlgn="t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Перейдите в первое окно командной строки. SQL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автоматически завершит работу. Теперь можно закрыть оба окна командной строки.</a:t>
            </a:r>
          </a:p>
          <a:p>
            <a:pPr lvl="0" fontAlgn="t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Переключитесь на SQL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(Диспетчер конфигурации SQL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запустите только одну службу SQL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-(MSSQLSERVER).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31BDD-8F0A-4E98-9CA0-944B280B8223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363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31BDD-8F0A-4E98-9CA0-944B280B8223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495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31BDD-8F0A-4E98-9CA0-944B280B8223}" type="slidenum">
              <a:rPr lang="ru-RU" smtClean="0"/>
              <a:pPr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545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D31BDD-8F0A-4E98-9CA0-944B280B8223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23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4B4EF02-7D3A-4CB1-82FE-892A90ADD7A4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595C-ED78-4B41-8D05-32A5607907DE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26BC195-97C7-4063-82E4-8E4AB23C789F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ED776-883E-40F1-BFA7-8738F9B049F6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BFE67-50E3-4A73-BF0E-E17A7F51F19A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2D685-F7CF-4B22-9988-DC5A2279FB67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5E761-BCC8-460A-882F-B57F679CD74D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35E5-EACB-4439-B115-877E7B410E8C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97B41-E506-4FD2-9963-7A5F857AEFAF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BC66-10C7-41E5-A822-BC63A285C8F2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A1281-565F-4986-B9B9-84F261B90BE5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FB3904E2-3CAC-4DCC-9DA9-F7D0DA76D91D}" type="datetime1">
              <a:rPr lang="ru-RU" smtClean="0"/>
              <a:pPr/>
              <a:t>14.05.2023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D456B9E9-89A4-42A5-907C-C2570D690DFD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tuit.ru/EDI/14_08_14_2/1407964674-31059/tutorial/409/objects/5/files/03_07.gi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icrosoft.com/ru-ru/azure/sql-database/sql-database-managed-instance-index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80999" y="1719071"/>
            <a:ext cx="8511481" cy="4407408"/>
          </a:xfrm>
        </p:spPr>
        <p:txBody>
          <a:bodyPr>
            <a:normAutofit fontScale="62500" lnSpcReduction="20000"/>
          </a:bodyPr>
          <a:lstStyle/>
          <a:p>
            <a:pPr marL="45720" indent="0">
              <a:buNone/>
            </a:pPr>
            <a:endParaRPr lang="ru-RU" sz="4800" b="1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sz="4800" b="1" dirty="0">
              <a:solidFill>
                <a:schemeClr val="tx1"/>
              </a:solidFill>
            </a:endParaRPr>
          </a:p>
          <a:p>
            <a:pPr marL="45720" indent="0">
              <a:buNone/>
            </a:pPr>
            <a:endParaRPr lang="ru-RU" sz="4800" b="1" dirty="0">
              <a:solidFill>
                <a:schemeClr val="tx1"/>
              </a:solidFill>
            </a:endParaRPr>
          </a:p>
          <a:p>
            <a:pPr marL="45720" indent="0" algn="ctr">
              <a:buNone/>
            </a:pPr>
            <a:r>
              <a:rPr lang="ru-RU" sz="4800" b="1" dirty="0">
                <a:solidFill>
                  <a:schemeClr val="tx1"/>
                </a:solidFill>
              </a:rPr>
              <a:t>Методы восстановления БД </a:t>
            </a:r>
            <a:endParaRPr lang="en-US" sz="4800" b="1" dirty="0">
              <a:solidFill>
                <a:schemeClr val="tx1"/>
              </a:solidFill>
            </a:endParaRPr>
          </a:p>
          <a:p>
            <a:pPr marL="45720" indent="0" algn="ctr">
              <a:buNone/>
            </a:pPr>
            <a:r>
              <a:rPr lang="ru-RU" sz="4800" b="1" dirty="0">
                <a:solidFill>
                  <a:schemeClr val="tx1"/>
                </a:solidFill>
              </a:rPr>
              <a:t>в</a:t>
            </a:r>
            <a:r>
              <a:rPr lang="en-US" sz="4800" b="1" dirty="0">
                <a:solidFill>
                  <a:schemeClr val="tx1"/>
                </a:solidFill>
              </a:rPr>
              <a:t> MS SQL Server</a:t>
            </a:r>
            <a:endParaRPr lang="ru-RU" sz="4800" b="1" dirty="0">
              <a:solidFill>
                <a:schemeClr val="tx1"/>
              </a:solidFill>
            </a:endParaRPr>
          </a:p>
          <a:p>
            <a:pPr marL="45720" indent="0" algn="ctr">
              <a:buNone/>
            </a:pPr>
            <a:r>
              <a:rPr lang="ru-RU" sz="4800" b="1" dirty="0">
                <a:solidFill>
                  <a:schemeClr val="tx1"/>
                </a:solidFill>
              </a:rPr>
              <a:t>Автоматизация административных задач.</a:t>
            </a:r>
            <a:endParaRPr lang="en-US" sz="4800" b="1" dirty="0">
              <a:solidFill>
                <a:schemeClr val="tx1"/>
              </a:solidFill>
            </a:endParaRPr>
          </a:p>
          <a:p>
            <a:pPr marL="45720" indent="0" algn="ctr">
              <a:buNone/>
            </a:pPr>
            <a:r>
              <a:rPr lang="en-US" sz="4800" b="1" dirty="0">
                <a:solidFill>
                  <a:schemeClr val="tx1"/>
                </a:solidFill>
              </a:rPr>
              <a:t>Database Mail.</a:t>
            </a:r>
            <a:r>
              <a:rPr lang="ru-RU" sz="4800" b="1" dirty="0">
                <a:solidFill>
                  <a:schemeClr val="tx1"/>
                </a:solidFill>
              </a:rPr>
              <a:t> </a:t>
            </a:r>
          </a:p>
          <a:p>
            <a:pPr marL="45720" indent="0">
              <a:buNone/>
            </a:pPr>
            <a:r>
              <a:rPr lang="ru-RU" sz="4800" b="1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523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Компонент </a:t>
            </a:r>
            <a:r>
              <a:rPr lang="ru-RU" sz="2500" dirty="0" err="1">
                <a:solidFill>
                  <a:schemeClr val="tx1"/>
                </a:solidFill>
              </a:rPr>
              <a:t>Database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Engine</a:t>
            </a:r>
            <a:r>
              <a:rPr lang="ru-RU" sz="2500" dirty="0">
                <a:solidFill>
                  <a:schemeClr val="tx1"/>
                </a:solidFill>
              </a:rPr>
              <a:t> поддерживает следующие модели восстановления:</a:t>
            </a:r>
          </a:p>
          <a:p>
            <a:pPr algn="just"/>
            <a:r>
              <a:rPr lang="ru-RU" sz="2500" b="1" dirty="0">
                <a:solidFill>
                  <a:schemeClr val="tx1"/>
                </a:solidFill>
              </a:rPr>
              <a:t>модель полного восстановления</a:t>
            </a:r>
            <a:r>
              <a:rPr lang="en-US" sz="2500" b="1" dirty="0">
                <a:solidFill>
                  <a:schemeClr val="tx1"/>
                </a:solidFill>
              </a:rPr>
              <a:t> -</a:t>
            </a:r>
            <a:r>
              <a:rPr lang="ru-RU" sz="2400" b="1" dirty="0" err="1">
                <a:solidFill>
                  <a:schemeClr val="tx1"/>
                </a:solidFill>
              </a:rPr>
              <a:t>Full</a:t>
            </a:r>
            <a:r>
              <a:rPr lang="ru-RU" sz="2500" b="1" dirty="0">
                <a:solidFill>
                  <a:schemeClr val="tx1"/>
                </a:solidFill>
              </a:rPr>
              <a:t>;</a:t>
            </a:r>
          </a:p>
          <a:p>
            <a:pPr algn="just"/>
            <a:r>
              <a:rPr lang="ru-RU" sz="2500" b="1" dirty="0">
                <a:solidFill>
                  <a:schemeClr val="tx1"/>
                </a:solidFill>
              </a:rPr>
              <a:t>модель восстановления с неполным протоколированием</a:t>
            </a:r>
            <a:r>
              <a:rPr lang="en-US" sz="2500" b="1" dirty="0">
                <a:solidFill>
                  <a:schemeClr val="tx1"/>
                </a:solidFill>
              </a:rPr>
              <a:t>- </a:t>
            </a:r>
            <a:r>
              <a:rPr lang="ru-RU" sz="2400" b="1" dirty="0" err="1">
                <a:solidFill>
                  <a:schemeClr val="tx1"/>
                </a:solidFill>
              </a:rPr>
              <a:t>Bulk-logged</a:t>
            </a:r>
            <a:r>
              <a:rPr lang="ru-RU" sz="2400" b="1" dirty="0">
                <a:solidFill>
                  <a:schemeClr val="tx1"/>
                </a:solidFill>
              </a:rPr>
              <a:t> (режим неполного протоколирования)</a:t>
            </a:r>
            <a:r>
              <a:rPr lang="ru-RU" sz="2500" b="1" dirty="0">
                <a:solidFill>
                  <a:schemeClr val="tx1"/>
                </a:solidFill>
              </a:rPr>
              <a:t>;</a:t>
            </a:r>
          </a:p>
          <a:p>
            <a:pPr algn="just"/>
            <a:r>
              <a:rPr lang="ru-RU" sz="2500" b="1" dirty="0">
                <a:solidFill>
                  <a:schemeClr val="tx1"/>
                </a:solidFill>
              </a:rPr>
              <a:t>простую модель восстановления</a:t>
            </a:r>
            <a:r>
              <a:rPr lang="en-US" sz="2500" b="1" dirty="0">
                <a:solidFill>
                  <a:schemeClr val="tx1"/>
                </a:solidFill>
              </a:rPr>
              <a:t>-</a:t>
            </a:r>
            <a:r>
              <a:rPr lang="ru-RU" sz="2400" b="1" dirty="0" err="1">
                <a:solidFill>
                  <a:schemeClr val="tx1"/>
                </a:solidFill>
              </a:rPr>
              <a:t>Simple</a:t>
            </a:r>
            <a:r>
              <a:rPr lang="ru-RU" sz="2500" b="1" dirty="0">
                <a:solidFill>
                  <a:schemeClr val="tx1"/>
                </a:solidFill>
              </a:rPr>
              <a:t>.</a:t>
            </a:r>
            <a:endParaRPr lang="en-US" sz="2500" b="1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500" dirty="0">
                <a:solidFill>
                  <a:srgbClr val="FF0000"/>
                </a:solidFill>
              </a:rPr>
              <a:t>Простую модель восстановления не следует использовать для производственных баз данных.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восстановления</a:t>
            </a:r>
          </a:p>
        </p:txBody>
      </p:sp>
    </p:spTree>
    <p:extLst>
      <p:ext uri="{BB962C8B-B14F-4D97-AF65-F5344CB8AC3E}">
        <p14:creationId xmlns:p14="http://schemas.microsoft.com/office/powerpoint/2010/main" val="209901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500" b="1" dirty="0">
                <a:solidFill>
                  <a:schemeClr val="tx1"/>
                </a:solidFill>
              </a:rPr>
              <a:t>Пример</a:t>
            </a:r>
            <a:r>
              <a:rPr lang="ru-RU" sz="2500" dirty="0">
                <a:solidFill>
                  <a:schemeClr val="tx1"/>
                </a:solidFill>
              </a:rPr>
              <a:t>. 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Отображение текущей модели базы данных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посредством функции свойств </a:t>
            </a:r>
            <a:r>
              <a:rPr lang="en-US" sz="2500" dirty="0" err="1">
                <a:solidFill>
                  <a:schemeClr val="tx1"/>
                </a:solidFill>
                <a:highlight>
                  <a:srgbClr val="FFFF00"/>
                </a:highlight>
              </a:rPr>
              <a:t>databasepropertyex</a:t>
            </a:r>
            <a:endParaRPr lang="en-US" sz="25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45720" indent="0" algn="just">
              <a:buNone/>
            </a:pPr>
            <a:r>
              <a:rPr lang="en-US" sz="2500" dirty="0">
                <a:solidFill>
                  <a:schemeClr val="tx1"/>
                </a:solidFill>
              </a:rPr>
              <a:t>SELECT </a:t>
            </a:r>
            <a:r>
              <a:rPr lang="en-US" sz="2500" dirty="0" err="1">
                <a:solidFill>
                  <a:schemeClr val="tx1"/>
                </a:solidFill>
              </a:rPr>
              <a:t>databasepropertyex</a:t>
            </a:r>
            <a:r>
              <a:rPr lang="en-US" sz="2500" dirty="0">
                <a:solidFill>
                  <a:schemeClr val="tx1"/>
                </a:solidFill>
              </a:rPr>
              <a:t>('sample', 'recovery')</a:t>
            </a:r>
          </a:p>
          <a:p>
            <a:pPr marL="45720" indent="0" algn="just">
              <a:buNone/>
            </a:pPr>
            <a:endParaRPr lang="ru-RU" sz="25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500" b="1" dirty="0">
                <a:solidFill>
                  <a:schemeClr val="tx1"/>
                </a:solidFill>
              </a:rPr>
              <a:t>Пример</a:t>
            </a:r>
            <a:r>
              <a:rPr lang="ru-RU" sz="2500" dirty="0">
                <a:solidFill>
                  <a:schemeClr val="tx1"/>
                </a:solidFill>
              </a:rPr>
              <a:t>. 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Отображение модели восстановления посредством представления каталога </a:t>
            </a:r>
            <a:r>
              <a:rPr lang="en-US" sz="2500" dirty="0" err="1">
                <a:solidFill>
                  <a:schemeClr val="tx1"/>
                </a:solidFill>
                <a:highlight>
                  <a:srgbClr val="FFFF00"/>
                </a:highlight>
              </a:rPr>
              <a:t>sys.databases</a:t>
            </a:r>
            <a:endParaRPr lang="en-US" sz="25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45720" indent="0" algn="just">
              <a:buNone/>
            </a:pPr>
            <a:r>
              <a:rPr lang="en-US" sz="2500" dirty="0">
                <a:solidFill>
                  <a:schemeClr val="tx1"/>
                </a:solidFill>
              </a:rPr>
              <a:t>SELECT name, </a:t>
            </a:r>
            <a:r>
              <a:rPr lang="en-US" sz="2500" dirty="0" err="1">
                <a:solidFill>
                  <a:schemeClr val="tx1"/>
                </a:solidFill>
              </a:rPr>
              <a:t>database_id</a:t>
            </a:r>
            <a:r>
              <a:rPr lang="en-US" sz="2500" dirty="0">
                <a:solidFill>
                  <a:schemeClr val="tx1"/>
                </a:solidFill>
              </a:rPr>
              <a:t>, </a:t>
            </a:r>
            <a:r>
              <a:rPr lang="en-US" sz="2500" dirty="0" err="1">
                <a:solidFill>
                  <a:schemeClr val="tx1"/>
                </a:solidFill>
              </a:rPr>
              <a:t>recovery_model_desc</a:t>
            </a:r>
            <a:r>
              <a:rPr lang="en-US" sz="2500" dirty="0">
                <a:solidFill>
                  <a:schemeClr val="tx1"/>
                </a:solidFill>
              </a:rPr>
              <a:t> AS model</a:t>
            </a:r>
          </a:p>
          <a:p>
            <a:pPr marL="45720" indent="0" algn="just">
              <a:buNone/>
            </a:pPr>
            <a:r>
              <a:rPr lang="en-US" sz="2500" dirty="0">
                <a:solidFill>
                  <a:schemeClr val="tx1"/>
                </a:solidFill>
              </a:rPr>
              <a:t>FROM </a:t>
            </a:r>
            <a:r>
              <a:rPr lang="en-US" sz="2500" dirty="0" err="1">
                <a:solidFill>
                  <a:schemeClr val="tx1"/>
                </a:solidFill>
              </a:rPr>
              <a:t>sys.databases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en-US" sz="2500" dirty="0">
                <a:solidFill>
                  <a:schemeClr val="tx1"/>
                </a:solidFill>
              </a:rPr>
              <a:t>WHERE name = 'sample'</a:t>
            </a:r>
            <a:endParaRPr lang="ru-RU" sz="25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восстановления</a:t>
            </a:r>
          </a:p>
        </p:txBody>
      </p:sp>
    </p:spTree>
    <p:extLst>
      <p:ext uri="{BB962C8B-B14F-4D97-AF65-F5344CB8AC3E}">
        <p14:creationId xmlns:p14="http://schemas.microsoft.com/office/powerpoint/2010/main" val="1764229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3588" y="1719070"/>
            <a:ext cx="8860900" cy="478308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b="1" i="1" dirty="0" err="1">
                <a:solidFill>
                  <a:schemeClr val="tx1"/>
                </a:solidFill>
              </a:rPr>
              <a:t>Restore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(восстановление с носителя) — во время этого процесса производится перенос данных из резервной копии на сервер баз данных. </a:t>
            </a:r>
          </a:p>
          <a:p>
            <a:pPr algn="just"/>
            <a:r>
              <a:rPr lang="ru-RU" b="1" i="1" dirty="0" err="1">
                <a:solidFill>
                  <a:schemeClr val="tx1"/>
                </a:solidFill>
              </a:rPr>
              <a:t>Recovery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(восстановление работоспособности) — устранение всех проблем, которые могут быть с БД, и открытие БД для доступа пользователей. </a:t>
            </a:r>
            <a:endParaRPr lang="ru-RU" dirty="0" smtClean="0">
              <a:solidFill>
                <a:schemeClr val="tx1"/>
              </a:solidFill>
            </a:endParaRPr>
          </a:p>
          <a:p>
            <a:pPr algn="just"/>
            <a:r>
              <a:rPr lang="ru-RU" b="1" dirty="0" smtClean="0">
                <a:solidFill>
                  <a:schemeClr val="tx1"/>
                </a:solidFill>
              </a:rPr>
              <a:t>Процедура </a:t>
            </a:r>
            <a:r>
              <a:rPr lang="ru-RU" b="1" dirty="0" err="1">
                <a:solidFill>
                  <a:schemeClr val="tx1"/>
                </a:solidFill>
              </a:rPr>
              <a:t>recovery</a:t>
            </a:r>
            <a:r>
              <a:rPr lang="ru-RU" b="1" dirty="0">
                <a:solidFill>
                  <a:schemeClr val="tx1"/>
                </a:solidFill>
              </a:rPr>
              <a:t> должна быть произведена после восстановления с носителя — </a:t>
            </a:r>
            <a:r>
              <a:rPr lang="ru-RU" b="1" dirty="0" err="1">
                <a:solidFill>
                  <a:schemeClr val="tx1"/>
                </a:solidFill>
              </a:rPr>
              <a:t>restore</a:t>
            </a:r>
            <a:r>
              <a:rPr lang="ru-RU" b="1" dirty="0">
                <a:solidFill>
                  <a:schemeClr val="tx1"/>
                </a:solidFill>
              </a:rPr>
              <a:t>, однако она запускается и в других ситуациях. </a:t>
            </a:r>
          </a:p>
          <a:p>
            <a:pPr algn="just"/>
            <a:r>
              <a:rPr lang="ru-RU" b="1" i="1" dirty="0" err="1">
                <a:solidFill>
                  <a:schemeClr val="tx1"/>
                </a:solidFill>
              </a:rPr>
              <a:t>Failure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(сбой в работе </a:t>
            </a:r>
            <a:r>
              <a:rPr lang="ru-RU" dirty="0" smtClean="0">
                <a:solidFill>
                  <a:schemeClr val="tx1"/>
                </a:solidFill>
              </a:rPr>
              <a:t>БД) </a:t>
            </a:r>
            <a:r>
              <a:rPr lang="ru-RU" dirty="0">
                <a:solidFill>
                  <a:schemeClr val="tx1"/>
                </a:solidFill>
              </a:rPr>
              <a:t>— например, возникли ошибки на диске, на котором была расположена БД. ОС и программные файлы сервера при этом остались в рабочем состоянии, и вам потребуется произвести восстановление только базы данных. </a:t>
            </a:r>
          </a:p>
          <a:p>
            <a:pPr algn="just"/>
            <a:r>
              <a:rPr lang="ru-RU" b="1" i="1" dirty="0" err="1">
                <a:solidFill>
                  <a:schemeClr val="tx1"/>
                </a:solidFill>
              </a:rPr>
              <a:t>Disaster</a:t>
            </a:r>
            <a:r>
              <a:rPr lang="ru-RU" b="1" i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(катастрофический отказ сервера) — например, из-за скачка напряжения, пожара, затопления и т.п.. При восстановлении в случае такой ситуации вам придется вначале установить ОС и программное обеспечение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, а потом уже производить восстановление рабочих баз данных. </a:t>
            </a:r>
          </a:p>
          <a:p>
            <a:pPr algn="just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ТерминОлогия</a:t>
            </a:r>
            <a:r>
              <a:rPr lang="ru-RU" b="1" dirty="0"/>
              <a:t> восстановления БД из резервной копии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22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95536" y="1556792"/>
            <a:ext cx="8394184" cy="4177704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1. Процедура </a:t>
            </a:r>
            <a:r>
              <a:rPr lang="ru-RU" sz="2500" b="1" i="1" dirty="0" err="1">
                <a:solidFill>
                  <a:schemeClr val="tx1"/>
                </a:solidFill>
              </a:rPr>
              <a:t>restore</a:t>
            </a:r>
            <a:r>
              <a:rPr lang="ru-RU" sz="2500" dirty="0">
                <a:solidFill>
                  <a:schemeClr val="tx1"/>
                </a:solidFill>
              </a:rPr>
              <a:t> — </a:t>
            </a:r>
            <a:r>
              <a:rPr lang="ru-RU" sz="2500" b="1" dirty="0">
                <a:solidFill>
                  <a:schemeClr val="tx1"/>
                </a:solidFill>
              </a:rPr>
              <a:t>фаза копирования данных </a:t>
            </a:r>
            <a:r>
              <a:rPr lang="ru-RU" sz="2500" dirty="0">
                <a:solidFill>
                  <a:schemeClr val="tx1"/>
                </a:solidFill>
              </a:rPr>
              <a:t>(</a:t>
            </a:r>
            <a:r>
              <a:rPr lang="ru-RU" sz="2500" dirty="0" err="1">
                <a:solidFill>
                  <a:schemeClr val="tx1"/>
                </a:solidFill>
                <a:highlight>
                  <a:srgbClr val="FFFF00"/>
                </a:highlight>
              </a:rPr>
              <a:t>data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ru-RU" sz="2500" dirty="0" err="1">
                <a:solidFill>
                  <a:schemeClr val="tx1"/>
                </a:solidFill>
                <a:highlight>
                  <a:srgbClr val="FFFF00"/>
                </a:highlight>
              </a:rPr>
              <a:t>copy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ru-RU" sz="2500" dirty="0" err="1">
                <a:solidFill>
                  <a:schemeClr val="tx1"/>
                </a:solidFill>
                <a:highlight>
                  <a:srgbClr val="FFFF00"/>
                </a:highlight>
              </a:rPr>
              <a:t>phase</a:t>
            </a:r>
            <a:r>
              <a:rPr lang="ru-RU" sz="2500" dirty="0">
                <a:solidFill>
                  <a:schemeClr val="tx1"/>
                </a:solidFill>
              </a:rPr>
              <a:t>)</a:t>
            </a:r>
            <a:r>
              <a:rPr lang="ru-RU" sz="2500" i="1" dirty="0">
                <a:solidFill>
                  <a:schemeClr val="tx1"/>
                </a:solidFill>
              </a:rPr>
              <a:t> </a:t>
            </a:r>
            <a:r>
              <a:rPr lang="ru-RU" sz="2500" dirty="0">
                <a:solidFill>
                  <a:schemeClr val="tx1"/>
                </a:solidFill>
              </a:rPr>
              <a:t>— необходимая информация восстанавливается с носителя; </a:t>
            </a: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2. Если производится восстановление журналов транзакций, то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записывает в БД всю информацию о завершенных транзакциях из журнала транзакций. Эта операция называется </a:t>
            </a:r>
            <a:r>
              <a:rPr lang="ru-RU" sz="2500" b="1" i="1" dirty="0" err="1">
                <a:solidFill>
                  <a:schemeClr val="tx1"/>
                </a:solidFill>
                <a:highlight>
                  <a:srgbClr val="FFFF00"/>
                </a:highlight>
              </a:rPr>
              <a:t>roll</a:t>
            </a:r>
            <a:r>
              <a:rPr lang="ru-RU" sz="2500" b="1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ru-RU" sz="2500" b="1" i="1" dirty="0" err="1">
                <a:solidFill>
                  <a:schemeClr val="tx1"/>
                </a:solidFill>
                <a:highlight>
                  <a:srgbClr val="FFFF00"/>
                </a:highlight>
              </a:rPr>
              <a:t>forward</a:t>
            </a:r>
            <a:r>
              <a:rPr lang="ru-RU" sz="2500" b="1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(</a:t>
            </a:r>
            <a:r>
              <a:rPr lang="ru-RU" sz="2500" b="1" dirty="0">
                <a:solidFill>
                  <a:schemeClr val="tx1"/>
                </a:solidFill>
                <a:highlight>
                  <a:srgbClr val="FFFF00"/>
                </a:highlight>
              </a:rPr>
              <a:t>завершение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)</a:t>
            </a:r>
            <a:r>
              <a:rPr lang="ru-RU" sz="2500" dirty="0">
                <a:solidFill>
                  <a:schemeClr val="tx1"/>
                </a:solidFill>
              </a:rPr>
              <a:t>. Сам этап называется </a:t>
            </a:r>
            <a:r>
              <a:rPr lang="ru-RU" sz="2500" b="1" dirty="0">
                <a:solidFill>
                  <a:schemeClr val="tx1"/>
                </a:solidFill>
                <a:highlight>
                  <a:srgbClr val="FFFF00"/>
                </a:highlight>
              </a:rPr>
              <a:t>фазой повтора 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(</a:t>
            </a:r>
            <a:r>
              <a:rPr lang="ru-RU" sz="2500" dirty="0" err="1">
                <a:solidFill>
                  <a:schemeClr val="tx1"/>
                </a:solidFill>
                <a:highlight>
                  <a:srgbClr val="FFFF00"/>
                </a:highlight>
              </a:rPr>
              <a:t>redo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ru-RU" sz="2500" dirty="0" err="1">
                <a:solidFill>
                  <a:schemeClr val="tx1"/>
                </a:solidFill>
                <a:highlight>
                  <a:srgbClr val="FFFF00"/>
                </a:highlight>
              </a:rPr>
              <a:t>phase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);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Общий план восстановления из резервной копии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074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1556792"/>
            <a:ext cx="8610208" cy="4177704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600" dirty="0">
                <a:solidFill>
                  <a:schemeClr val="tx1"/>
                </a:solidFill>
              </a:rPr>
              <a:t>3. Далее в версии SQL </a:t>
            </a:r>
            <a:r>
              <a:rPr lang="ru-RU" sz="2600" dirty="0" err="1">
                <a:solidFill>
                  <a:schemeClr val="tx1"/>
                </a:solidFill>
              </a:rPr>
              <a:t>Server</a:t>
            </a:r>
            <a:r>
              <a:rPr lang="ru-RU" sz="2600" dirty="0">
                <a:solidFill>
                  <a:schemeClr val="tx1"/>
                </a:solidFill>
              </a:rPr>
              <a:t> 2012 </a:t>
            </a:r>
            <a:r>
              <a:rPr lang="ru-RU" sz="2600" dirty="0" err="1">
                <a:solidFill>
                  <a:schemeClr val="tx1"/>
                </a:solidFill>
              </a:rPr>
              <a:t>Enterprise</a:t>
            </a:r>
            <a:r>
              <a:rPr lang="ru-RU" sz="2600" dirty="0">
                <a:solidFill>
                  <a:schemeClr val="tx1"/>
                </a:solidFill>
              </a:rPr>
              <a:t> </a:t>
            </a:r>
            <a:r>
              <a:rPr lang="ru-RU" sz="2600" dirty="0" err="1">
                <a:solidFill>
                  <a:schemeClr val="tx1"/>
                </a:solidFill>
              </a:rPr>
              <a:t>Edition</a:t>
            </a:r>
            <a:r>
              <a:rPr lang="ru-RU" sz="2600" dirty="0">
                <a:solidFill>
                  <a:schemeClr val="tx1"/>
                </a:solidFill>
              </a:rPr>
              <a:t> (только </a:t>
            </a:r>
            <a:r>
              <a:rPr lang="ru-RU" sz="2600" dirty="0" smtClean="0">
                <a:solidFill>
                  <a:schemeClr val="tx1"/>
                </a:solidFill>
              </a:rPr>
              <a:t>с </a:t>
            </a:r>
            <a:r>
              <a:rPr lang="ru-RU" sz="2600" dirty="0">
                <a:solidFill>
                  <a:schemeClr val="tx1"/>
                </a:solidFill>
              </a:rPr>
              <a:t>этой редакции) пользователям открывается доступ к БД. </a:t>
            </a:r>
          </a:p>
          <a:p>
            <a:pPr marL="45720" indent="0" algn="just">
              <a:buNone/>
            </a:pPr>
            <a:r>
              <a:rPr lang="ru-RU" sz="2600" dirty="0">
                <a:solidFill>
                  <a:schemeClr val="tx1"/>
                </a:solidFill>
              </a:rPr>
              <a:t>Открытие доступа на этом этапе — это новая возможность SQL </a:t>
            </a:r>
            <a:r>
              <a:rPr lang="ru-RU" sz="2600" dirty="0" err="1">
                <a:solidFill>
                  <a:schemeClr val="tx1"/>
                </a:solidFill>
              </a:rPr>
              <a:t>Server</a:t>
            </a:r>
            <a:r>
              <a:rPr lang="ru-RU" sz="2600" dirty="0">
                <a:solidFill>
                  <a:schemeClr val="tx1"/>
                </a:solidFill>
              </a:rPr>
              <a:t> 2012. </a:t>
            </a:r>
            <a:r>
              <a:rPr lang="ru-RU" sz="2600" dirty="0" smtClean="0">
                <a:solidFill>
                  <a:schemeClr val="tx1"/>
                </a:solidFill>
              </a:rPr>
              <a:t>Она </a:t>
            </a:r>
            <a:r>
              <a:rPr lang="ru-RU" sz="2600" dirty="0">
                <a:solidFill>
                  <a:schemeClr val="tx1"/>
                </a:solidFill>
              </a:rPr>
              <a:t>имеет свое название:</a:t>
            </a:r>
            <a:r>
              <a:rPr lang="ru-RU" sz="2600" b="1" dirty="0">
                <a:solidFill>
                  <a:schemeClr val="tx1"/>
                </a:solidFill>
              </a:rPr>
              <a:t> </a:t>
            </a:r>
            <a:r>
              <a:rPr lang="ru-RU" sz="2600" b="1" i="1" dirty="0" err="1">
                <a:solidFill>
                  <a:schemeClr val="tx1"/>
                </a:solidFill>
                <a:highlight>
                  <a:srgbClr val="FFFF00"/>
                </a:highlight>
              </a:rPr>
              <a:t>fast</a:t>
            </a:r>
            <a:r>
              <a:rPr lang="ru-RU" sz="2600" b="1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ru-RU" sz="2600" b="1" i="1" dirty="0" err="1">
                <a:solidFill>
                  <a:schemeClr val="tx1"/>
                </a:solidFill>
                <a:highlight>
                  <a:srgbClr val="FFFF00"/>
                </a:highlight>
              </a:rPr>
              <a:t>recovery</a:t>
            </a:r>
            <a:r>
              <a:rPr lang="ru-RU" sz="26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ru-RU" sz="2600" dirty="0">
                <a:solidFill>
                  <a:schemeClr val="tx1"/>
                </a:solidFill>
                <a:highlight>
                  <a:srgbClr val="FFFF00"/>
                </a:highlight>
              </a:rPr>
              <a:t>(быстрое восстановление). </a:t>
            </a:r>
          </a:p>
          <a:p>
            <a:pPr marL="45720" indent="0" algn="just">
              <a:buNone/>
            </a:pPr>
            <a:endParaRPr lang="ru-RU" sz="2600" dirty="0" smtClean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600" dirty="0" smtClean="0">
                <a:solidFill>
                  <a:schemeClr val="tx1"/>
                </a:solidFill>
              </a:rPr>
              <a:t>Если </a:t>
            </a:r>
            <a:r>
              <a:rPr lang="ru-RU" sz="2600" dirty="0">
                <a:solidFill>
                  <a:schemeClr val="tx1"/>
                </a:solidFill>
              </a:rPr>
              <a:t>пользователь на этом этапе попытается обратиться к данным, </a:t>
            </a:r>
            <a:r>
              <a:rPr lang="ru-RU" sz="2600" b="1" dirty="0">
                <a:solidFill>
                  <a:schemeClr val="tx1"/>
                </a:solidFill>
              </a:rPr>
              <a:t>измененным незавершенными транзакциями</a:t>
            </a:r>
            <a:r>
              <a:rPr lang="ru-RU" sz="2600" dirty="0">
                <a:solidFill>
                  <a:schemeClr val="tx1"/>
                </a:solidFill>
              </a:rPr>
              <a:t>, </a:t>
            </a:r>
            <a:r>
              <a:rPr lang="ru-RU" sz="2600" b="1" dirty="0">
                <a:solidFill>
                  <a:schemeClr val="tx1"/>
                </a:solidFill>
              </a:rPr>
              <a:t>то доступ ему будет закрыт за счет механизма блокировок</a:t>
            </a:r>
            <a:r>
              <a:rPr lang="ru-RU" sz="2600" dirty="0">
                <a:solidFill>
                  <a:schemeClr val="tx1"/>
                </a:solidFill>
              </a:rPr>
              <a:t>;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Общий план восстановления из резервной копии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015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57158" y="1785926"/>
            <a:ext cx="8538770" cy="4407408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4.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обнаруживает в журнале все незавершенные транзакции и отменяет их. Эта операция называется </a:t>
            </a:r>
            <a:r>
              <a:rPr lang="ru-RU" sz="2500" b="1" i="1" dirty="0" err="1">
                <a:solidFill>
                  <a:schemeClr val="tx1"/>
                </a:solidFill>
                <a:highlight>
                  <a:srgbClr val="FFFF00"/>
                </a:highlight>
              </a:rPr>
              <a:t>rollback</a:t>
            </a:r>
            <a:r>
              <a:rPr lang="ru-RU" sz="2500" i="1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— откат транзакций, а сам этап называется </a:t>
            </a:r>
            <a:r>
              <a:rPr lang="ru-RU" sz="2500" b="1" dirty="0">
                <a:solidFill>
                  <a:schemeClr val="tx1"/>
                </a:solidFill>
                <a:highlight>
                  <a:srgbClr val="FFFF00"/>
                </a:highlight>
              </a:rPr>
              <a:t>этапом отката 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(</a:t>
            </a:r>
            <a:r>
              <a:rPr lang="ru-RU" sz="2500" dirty="0" err="1">
                <a:solidFill>
                  <a:schemeClr val="tx1"/>
                </a:solidFill>
                <a:highlight>
                  <a:srgbClr val="FFFF00"/>
                </a:highlight>
              </a:rPr>
              <a:t>rollback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ru-RU" sz="2500" dirty="0" err="1">
                <a:solidFill>
                  <a:schemeClr val="tx1"/>
                </a:solidFill>
                <a:highlight>
                  <a:srgbClr val="FFFF00"/>
                </a:highlight>
              </a:rPr>
              <a:t>phase</a:t>
            </a:r>
            <a:r>
              <a:rPr lang="ru-RU" sz="2500" dirty="0">
                <a:solidFill>
                  <a:schemeClr val="tx1"/>
                </a:solidFill>
                <a:highlight>
                  <a:srgbClr val="FFFF00"/>
                </a:highlight>
              </a:rPr>
              <a:t>); </a:t>
            </a: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5. К БД открывается доступ в обычном режиме во всех версиях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en-US" sz="2500" dirty="0">
                <a:solidFill>
                  <a:schemeClr val="tx1"/>
                </a:solidFill>
              </a:rPr>
              <a:t>.</a:t>
            </a:r>
            <a:endParaRPr lang="ru-RU" sz="25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Информация о восстановлении записывается в служебные таблицы </a:t>
            </a:r>
            <a:r>
              <a:rPr lang="ru-RU" sz="2500" dirty="0">
                <a:solidFill>
                  <a:schemeClr val="tx1"/>
                </a:solidFill>
              </a:rPr>
              <a:t>БД 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Общий план восстановления из резервной копии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0745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600" dirty="0">
                <a:solidFill>
                  <a:schemeClr val="tx1"/>
                </a:solidFill>
              </a:rPr>
              <a:t>Компонент </a:t>
            </a:r>
            <a:r>
              <a:rPr lang="ru-RU" sz="2600" dirty="0" err="1">
                <a:solidFill>
                  <a:schemeClr val="tx1"/>
                </a:solidFill>
              </a:rPr>
              <a:t>Database</a:t>
            </a:r>
            <a:r>
              <a:rPr lang="ru-RU" sz="2600" dirty="0">
                <a:solidFill>
                  <a:schemeClr val="tx1"/>
                </a:solidFill>
              </a:rPr>
              <a:t> </a:t>
            </a:r>
            <a:r>
              <a:rPr lang="ru-RU" sz="2600" dirty="0" err="1">
                <a:solidFill>
                  <a:schemeClr val="tx1"/>
                </a:solidFill>
              </a:rPr>
              <a:t>Engine</a:t>
            </a:r>
            <a:r>
              <a:rPr lang="ru-RU" sz="2600" dirty="0">
                <a:solidFill>
                  <a:schemeClr val="tx1"/>
                </a:solidFill>
              </a:rPr>
              <a:t> сначала выполняет восстановление базы данных </a:t>
            </a:r>
            <a:r>
              <a:rPr lang="ru-RU" sz="2600" b="1" dirty="0" err="1">
                <a:solidFill>
                  <a:schemeClr val="tx1"/>
                </a:solidFill>
              </a:rPr>
              <a:t>master</a:t>
            </a:r>
            <a:r>
              <a:rPr lang="ru-RU" sz="2600" dirty="0">
                <a:solidFill>
                  <a:schemeClr val="tx1"/>
                </a:solidFill>
              </a:rPr>
              <a:t>,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ru-RU" sz="2600" dirty="0">
                <a:solidFill>
                  <a:schemeClr val="tx1"/>
                </a:solidFill>
              </a:rPr>
              <a:t>после чего следует восстановление всех остальных </a:t>
            </a:r>
            <a:r>
              <a:rPr lang="ru-RU" sz="2600" b="1" dirty="0">
                <a:solidFill>
                  <a:schemeClr val="tx1"/>
                </a:solidFill>
              </a:rPr>
              <a:t>системных баз данных</a:t>
            </a:r>
            <a:r>
              <a:rPr lang="ru-RU" sz="2600" dirty="0">
                <a:solidFill>
                  <a:schemeClr val="tx1"/>
                </a:solidFill>
              </a:rPr>
              <a:t>. </a:t>
            </a:r>
            <a:endParaRPr lang="en-US" sz="2600" dirty="0">
              <a:solidFill>
                <a:schemeClr val="tx1"/>
              </a:solidFill>
            </a:endParaRPr>
          </a:p>
          <a:p>
            <a:pPr algn="just"/>
            <a:r>
              <a:rPr lang="ru-RU" sz="2600" dirty="0">
                <a:solidFill>
                  <a:schemeClr val="tx1"/>
                </a:solidFill>
              </a:rPr>
              <a:t>Процесс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ru-RU" sz="2600" dirty="0">
                <a:solidFill>
                  <a:schemeClr val="tx1"/>
                </a:solidFill>
              </a:rPr>
              <a:t>завершается </a:t>
            </a:r>
            <a:r>
              <a:rPr lang="ru-RU" sz="2600" b="1" dirty="0">
                <a:solidFill>
                  <a:schemeClr val="tx1"/>
                </a:solidFill>
              </a:rPr>
              <a:t>восстановлением пользовательских баз данных.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Общий план восстановления из резервной копии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9437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1685888"/>
            <a:ext cx="8496943" cy="4407408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600" dirty="0">
                <a:solidFill>
                  <a:schemeClr val="tx1"/>
                </a:solidFill>
              </a:rPr>
              <a:t>1. Перед восстановлением необходимо запретить пользователям доступ к подлежащей восстановлению БД. Это можно сделать разными способами: </a:t>
            </a:r>
          </a:p>
          <a:p>
            <a:pPr algn="just"/>
            <a:r>
              <a:rPr lang="ru-RU" sz="2600" dirty="0">
                <a:solidFill>
                  <a:schemeClr val="tx1"/>
                </a:solidFill>
              </a:rPr>
              <a:t>установить для параметра </a:t>
            </a:r>
            <a:r>
              <a:rPr lang="ru-RU" sz="2600" b="1" dirty="0" err="1">
                <a:solidFill>
                  <a:schemeClr val="tx1"/>
                </a:solidFill>
              </a:rPr>
              <a:t>Restrict</a:t>
            </a:r>
            <a:r>
              <a:rPr lang="ru-RU" sz="2600" b="1" dirty="0">
                <a:solidFill>
                  <a:schemeClr val="tx1"/>
                </a:solidFill>
              </a:rPr>
              <a:t> </a:t>
            </a:r>
            <a:r>
              <a:rPr lang="ru-RU" sz="2600" b="1" dirty="0" err="1">
                <a:solidFill>
                  <a:schemeClr val="tx1"/>
                </a:solidFill>
              </a:rPr>
              <a:t>Access</a:t>
            </a:r>
            <a:r>
              <a:rPr lang="ru-RU" sz="2600" b="1" dirty="0">
                <a:solidFill>
                  <a:schemeClr val="tx1"/>
                </a:solidFill>
              </a:rPr>
              <a:t> </a:t>
            </a:r>
            <a:r>
              <a:rPr lang="ru-RU" sz="2600" dirty="0">
                <a:solidFill>
                  <a:schemeClr val="tx1"/>
                </a:solidFill>
              </a:rPr>
              <a:t>свойств БД значение </a:t>
            </a:r>
            <a:r>
              <a:rPr lang="ru-RU" sz="2600" b="1" dirty="0" err="1">
                <a:solidFill>
                  <a:schemeClr val="tx1"/>
                </a:solidFill>
              </a:rPr>
              <a:t>Restricted</a:t>
            </a:r>
            <a:r>
              <a:rPr lang="ru-RU" sz="2600" dirty="0">
                <a:solidFill>
                  <a:schemeClr val="tx1"/>
                </a:solidFill>
              </a:rPr>
              <a:t>. </a:t>
            </a:r>
            <a:endParaRPr lang="en-US" sz="2600" dirty="0">
              <a:solidFill>
                <a:schemeClr val="tx1"/>
              </a:solidFill>
            </a:endParaRPr>
          </a:p>
          <a:p>
            <a:pPr algn="just"/>
            <a:r>
              <a:rPr lang="ru-RU" sz="2600" dirty="0">
                <a:solidFill>
                  <a:schemeClr val="tx1"/>
                </a:solidFill>
              </a:rPr>
              <a:t>если же пользователи БД могут подключаться с правами DBO, то для этого параметра можно установить значение </a:t>
            </a:r>
            <a:r>
              <a:rPr lang="ru-RU" sz="2600" b="1" dirty="0" err="1">
                <a:solidFill>
                  <a:schemeClr val="tx1"/>
                </a:solidFill>
              </a:rPr>
              <a:t>Single</a:t>
            </a:r>
            <a:r>
              <a:rPr lang="ru-RU" sz="2600" dirty="0">
                <a:solidFill>
                  <a:schemeClr val="tx1"/>
                </a:solidFill>
              </a:rPr>
              <a:t>; </a:t>
            </a:r>
          </a:p>
          <a:p>
            <a:pPr marL="45720" indent="0" algn="just">
              <a:buNone/>
            </a:pPr>
            <a:endParaRPr lang="ru-RU" sz="26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к восстановлению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171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2998B89A-72A0-43A7-831B-8B263C3684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975" y="1556792"/>
            <a:ext cx="6947401" cy="5138944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к восстановлению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1601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1613880"/>
            <a:ext cx="8712967" cy="4407408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200" dirty="0">
                <a:solidFill>
                  <a:schemeClr val="tx1"/>
                </a:solidFill>
              </a:rPr>
              <a:t>Если на сервере имеется только одна рабочая БД, можно на время восстановления отключить сетевой доступ к SQL </a:t>
            </a:r>
            <a:r>
              <a:rPr lang="ru-RU" sz="2200" dirty="0" err="1">
                <a:solidFill>
                  <a:schemeClr val="tx1"/>
                </a:solidFill>
              </a:rPr>
              <a:t>Server</a:t>
            </a:r>
            <a:r>
              <a:rPr lang="ru-RU" sz="2200" dirty="0">
                <a:solidFill>
                  <a:schemeClr val="tx1"/>
                </a:solidFill>
              </a:rPr>
              <a:t>. Для этого можно, например, на время восстановления отключить протокол TCP/IP в контейнере </a:t>
            </a:r>
            <a:r>
              <a:rPr lang="ru-RU" sz="2200" b="1" dirty="0">
                <a:solidFill>
                  <a:schemeClr val="tx1"/>
                </a:solidFill>
              </a:rPr>
              <a:t>SQL </a:t>
            </a:r>
            <a:r>
              <a:rPr lang="ru-RU" sz="2200" b="1" dirty="0" err="1">
                <a:solidFill>
                  <a:schemeClr val="tx1"/>
                </a:solidFill>
              </a:rPr>
              <a:t>Server</a:t>
            </a:r>
            <a:r>
              <a:rPr lang="ru-RU" sz="2200" b="1" dirty="0">
                <a:solidFill>
                  <a:schemeClr val="tx1"/>
                </a:solidFill>
              </a:rPr>
              <a:t> 2012 </a:t>
            </a:r>
            <a:r>
              <a:rPr lang="ru-RU" sz="2200" b="1" dirty="0" err="1">
                <a:solidFill>
                  <a:schemeClr val="tx1"/>
                </a:solidFill>
              </a:rPr>
              <a:t>Network</a:t>
            </a:r>
            <a:r>
              <a:rPr lang="ru-RU" sz="2200" b="1" dirty="0">
                <a:solidFill>
                  <a:schemeClr val="tx1"/>
                </a:solidFill>
              </a:rPr>
              <a:t> </a:t>
            </a:r>
            <a:r>
              <a:rPr lang="ru-RU" sz="2200" b="1" dirty="0" err="1">
                <a:solidFill>
                  <a:schemeClr val="tx1"/>
                </a:solidFill>
              </a:rPr>
              <a:t>Configuration</a:t>
            </a:r>
            <a:r>
              <a:rPr lang="ru-RU" sz="2200" b="1" dirty="0">
                <a:solidFill>
                  <a:schemeClr val="tx1"/>
                </a:solidFill>
              </a:rPr>
              <a:t> </a:t>
            </a:r>
            <a:r>
              <a:rPr lang="ru-RU" sz="2200" dirty="0">
                <a:solidFill>
                  <a:schemeClr val="tx1"/>
                </a:solidFill>
              </a:rPr>
              <a:t>в SQL </a:t>
            </a:r>
            <a:r>
              <a:rPr lang="ru-RU" sz="2200" dirty="0" err="1">
                <a:solidFill>
                  <a:schemeClr val="tx1"/>
                </a:solidFill>
              </a:rPr>
              <a:t>Server</a:t>
            </a:r>
            <a:r>
              <a:rPr lang="ru-RU" sz="2200" dirty="0">
                <a:solidFill>
                  <a:schemeClr val="tx1"/>
                </a:solidFill>
              </a:rPr>
              <a:t> </a:t>
            </a:r>
            <a:r>
              <a:rPr lang="ru-RU" sz="2200" dirty="0" err="1">
                <a:solidFill>
                  <a:schemeClr val="tx1"/>
                </a:solidFill>
              </a:rPr>
              <a:t>Configuration</a:t>
            </a:r>
            <a:r>
              <a:rPr lang="ru-RU" sz="2200" dirty="0">
                <a:solidFill>
                  <a:schemeClr val="tx1"/>
                </a:solidFill>
              </a:rPr>
              <a:t> </a:t>
            </a:r>
            <a:r>
              <a:rPr lang="ru-RU" sz="2200" dirty="0" err="1">
                <a:solidFill>
                  <a:schemeClr val="tx1"/>
                </a:solidFill>
              </a:rPr>
              <a:t>Manager</a:t>
            </a:r>
            <a:r>
              <a:rPr lang="ru-RU" sz="2200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ru-RU" sz="2200" dirty="0">
                <a:solidFill>
                  <a:schemeClr val="tx1"/>
                </a:solidFill>
              </a:rPr>
              <a:t>если БД сильно повреждена и находится в автономном режиме (</a:t>
            </a:r>
            <a:r>
              <a:rPr lang="ru-RU" sz="2200" b="1" dirty="0" err="1">
                <a:solidFill>
                  <a:schemeClr val="tx1"/>
                </a:solidFill>
              </a:rPr>
              <a:t>offline</a:t>
            </a:r>
            <a:r>
              <a:rPr lang="ru-RU" sz="2200" dirty="0">
                <a:solidFill>
                  <a:schemeClr val="tx1"/>
                </a:solidFill>
              </a:rPr>
              <a:t>), необходимо отсоединить (</a:t>
            </a:r>
            <a:r>
              <a:rPr lang="ru-RU" sz="2200" b="1" dirty="0" err="1">
                <a:solidFill>
                  <a:schemeClr val="tx1"/>
                </a:solidFill>
              </a:rPr>
              <a:t>detach</a:t>
            </a:r>
            <a:r>
              <a:rPr lang="ru-RU" sz="2200" dirty="0">
                <a:solidFill>
                  <a:schemeClr val="tx1"/>
                </a:solidFill>
              </a:rPr>
              <a:t>) поврежденную БД. </a:t>
            </a:r>
          </a:p>
          <a:p>
            <a:pPr algn="just"/>
            <a:r>
              <a:rPr lang="ru-RU" sz="2200" dirty="0">
                <a:solidFill>
                  <a:schemeClr val="tx1"/>
                </a:solidFill>
              </a:rPr>
              <a:t>если БД из-за повреждения находится в состоянии подозрительная (</a:t>
            </a:r>
            <a:r>
              <a:rPr lang="ru-RU" sz="2200" b="1" dirty="0" err="1">
                <a:solidFill>
                  <a:schemeClr val="tx1"/>
                </a:solidFill>
              </a:rPr>
              <a:t>suspect</a:t>
            </a:r>
            <a:r>
              <a:rPr lang="ru-RU" sz="2200" b="1" dirty="0">
                <a:solidFill>
                  <a:schemeClr val="tx1"/>
                </a:solidFill>
              </a:rPr>
              <a:t>), </a:t>
            </a:r>
            <a:r>
              <a:rPr lang="ru-RU" sz="2200" dirty="0">
                <a:solidFill>
                  <a:schemeClr val="tx1"/>
                </a:solidFill>
              </a:rPr>
              <a:t>ее необходимо вначале перевести в состояние "экстренной необходимости" (</a:t>
            </a:r>
            <a:r>
              <a:rPr lang="ru-RU" sz="2200" dirty="0" err="1">
                <a:solidFill>
                  <a:schemeClr val="tx1"/>
                </a:solidFill>
              </a:rPr>
              <a:t>emergency</a:t>
            </a:r>
            <a:r>
              <a:rPr lang="ru-RU" sz="2200" dirty="0">
                <a:solidFill>
                  <a:schemeClr val="tx1"/>
                </a:solidFill>
              </a:rPr>
              <a:t>), а затем отсоединить (</a:t>
            </a:r>
            <a:r>
              <a:rPr lang="ru-RU" sz="2200" b="1" dirty="0" err="1">
                <a:solidFill>
                  <a:schemeClr val="tx1"/>
                </a:solidFill>
              </a:rPr>
              <a:t>detach</a:t>
            </a:r>
            <a:r>
              <a:rPr lang="ru-RU" sz="2200" dirty="0">
                <a:solidFill>
                  <a:schemeClr val="tx1"/>
                </a:solidFill>
              </a:rPr>
              <a:t>). </a:t>
            </a:r>
          </a:p>
          <a:p>
            <a:pPr marL="45720" indent="0" algn="ctr">
              <a:buNone/>
            </a:pPr>
            <a:r>
              <a:rPr lang="ru-RU" sz="2200" b="1" dirty="0">
                <a:solidFill>
                  <a:schemeClr val="tx1"/>
                </a:solidFill>
              </a:rPr>
              <a:t>ALTER DATABASE db1 SET </a:t>
            </a:r>
            <a:r>
              <a:rPr lang="ru-RU" sz="2200" b="1" dirty="0" err="1">
                <a:solidFill>
                  <a:schemeClr val="tx1"/>
                </a:solidFill>
              </a:rPr>
              <a:t>emergency</a:t>
            </a:r>
            <a:r>
              <a:rPr lang="ru-RU" sz="2200" b="1" dirty="0">
                <a:solidFill>
                  <a:schemeClr val="tx1"/>
                </a:solidFill>
              </a:rPr>
              <a:t> </a:t>
            </a:r>
            <a:endParaRPr lang="ru-RU" sz="22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endParaRPr lang="ru-RU" sz="22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к восстановлению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3753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142" y="1681087"/>
            <a:ext cx="8784975" cy="4407408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200" dirty="0">
                <a:solidFill>
                  <a:schemeClr val="tx1"/>
                </a:solidFill>
              </a:rPr>
              <a:t>2. На следующем этапе необходимо проверить целостность резервных копий, используя команды:</a:t>
            </a:r>
          </a:p>
          <a:p>
            <a:pPr marL="45720" indent="0" algn="just">
              <a:buNone/>
            </a:pPr>
            <a:r>
              <a:rPr lang="ru-RU" sz="2200" dirty="0">
                <a:solidFill>
                  <a:schemeClr val="tx1"/>
                </a:solidFill>
              </a:rPr>
              <a:t> •</a:t>
            </a:r>
            <a:r>
              <a:rPr lang="ru-RU" sz="2200" b="1" dirty="0">
                <a:solidFill>
                  <a:schemeClr val="tx1"/>
                </a:solidFill>
              </a:rPr>
              <a:t>RESTORE FILELISTONLY </a:t>
            </a:r>
            <a:r>
              <a:rPr lang="ru-RU" sz="2200" dirty="0">
                <a:solidFill>
                  <a:schemeClr val="tx1"/>
                </a:solidFill>
              </a:rPr>
              <a:t>— возвращает информацию о списке файлов и журналов транзакций, которые помещены в данную резервную копию;</a:t>
            </a:r>
          </a:p>
          <a:p>
            <a:pPr marL="45720" indent="0" algn="just">
              <a:buNone/>
            </a:pPr>
            <a:r>
              <a:rPr lang="ru-RU" sz="2200" dirty="0">
                <a:solidFill>
                  <a:schemeClr val="tx1"/>
                </a:solidFill>
              </a:rPr>
              <a:t>•</a:t>
            </a:r>
            <a:r>
              <a:rPr lang="ru-RU" sz="2200" b="1" dirty="0">
                <a:solidFill>
                  <a:schemeClr val="tx1"/>
                </a:solidFill>
              </a:rPr>
              <a:t>RESTORE HEADERONLY </a:t>
            </a:r>
            <a:r>
              <a:rPr lang="ru-RU" sz="2200" dirty="0">
                <a:solidFill>
                  <a:schemeClr val="tx1"/>
                </a:solidFill>
              </a:rPr>
              <a:t>— возвращает информацию о имени резервной копии, ее типе, описании, времени создания и времени устаревания и другую служебную информацию резервной копии; </a:t>
            </a:r>
          </a:p>
          <a:p>
            <a:pPr marL="45720" indent="0" algn="just">
              <a:buNone/>
            </a:pPr>
            <a:r>
              <a:rPr lang="ru-RU" sz="2200" dirty="0">
                <a:solidFill>
                  <a:schemeClr val="tx1"/>
                </a:solidFill>
              </a:rPr>
              <a:t>•</a:t>
            </a:r>
            <a:r>
              <a:rPr lang="ru-RU" sz="2200" b="1" dirty="0">
                <a:solidFill>
                  <a:schemeClr val="tx1"/>
                </a:solidFill>
              </a:rPr>
              <a:t>RESTORE LABELONLY </a:t>
            </a:r>
            <a:r>
              <a:rPr lang="ru-RU" sz="2200" dirty="0">
                <a:solidFill>
                  <a:schemeClr val="tx1"/>
                </a:solidFill>
              </a:rPr>
              <a:t>— выводится служебная информация о метке носителя. В основном она нужна для картриджей </a:t>
            </a:r>
            <a:r>
              <a:rPr lang="ru-RU" sz="2200" dirty="0" err="1">
                <a:solidFill>
                  <a:schemeClr val="tx1"/>
                </a:solidFill>
              </a:rPr>
              <a:t>стриммеров</a:t>
            </a:r>
            <a:r>
              <a:rPr lang="ru-RU" sz="2200" dirty="0">
                <a:solidFill>
                  <a:schemeClr val="tx1"/>
                </a:solidFill>
              </a:rPr>
              <a:t>, но может применяться и для файлов. </a:t>
            </a:r>
          </a:p>
          <a:p>
            <a:pPr marL="45720" indent="0" algn="just">
              <a:buNone/>
            </a:pPr>
            <a:r>
              <a:rPr lang="en-US" sz="2200" b="1" dirty="0" err="1">
                <a:solidFill>
                  <a:schemeClr val="tx1"/>
                </a:solidFill>
              </a:rPr>
              <a:t>Пример</a:t>
            </a:r>
            <a:r>
              <a:rPr lang="en-US" sz="2200" b="1" dirty="0">
                <a:solidFill>
                  <a:schemeClr val="tx1"/>
                </a:solidFill>
              </a:rPr>
              <a:t>:</a:t>
            </a:r>
            <a:r>
              <a:rPr lang="ru-RU" sz="2200" b="1" dirty="0">
                <a:solidFill>
                  <a:schemeClr val="tx1"/>
                </a:solidFill>
              </a:rPr>
              <a:t> </a:t>
            </a:r>
            <a:r>
              <a:rPr lang="en-US" sz="2200" b="1" dirty="0">
                <a:solidFill>
                  <a:schemeClr val="tx1"/>
                </a:solidFill>
              </a:rPr>
              <a:t>RESTORE FILELISTONLY FROM backupdevice1</a:t>
            </a:r>
            <a:endParaRPr lang="ru-RU" sz="2200" dirty="0">
              <a:solidFill>
                <a:schemeClr val="tx1"/>
              </a:solidFill>
            </a:endParaRPr>
          </a:p>
          <a:p>
            <a:pPr algn="just"/>
            <a:endParaRPr lang="ru-RU" sz="2200" dirty="0">
              <a:solidFill>
                <a:schemeClr val="tx1"/>
              </a:solidFill>
            </a:endParaRPr>
          </a:p>
          <a:p>
            <a:pPr algn="just"/>
            <a:endParaRPr lang="ru-RU" sz="2200" dirty="0">
              <a:solidFill>
                <a:schemeClr val="tx1"/>
              </a:solidFill>
            </a:endParaRPr>
          </a:p>
          <a:p>
            <a:pPr algn="just"/>
            <a:endParaRPr lang="ru-RU" sz="22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к восстановлению 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2996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ru-RU" sz="2500" b="1" dirty="0">
                <a:solidFill>
                  <a:schemeClr val="tx1"/>
                </a:solidFill>
              </a:rPr>
              <a:t>Запустить восстановление : </a:t>
            </a:r>
            <a:endParaRPr lang="ru-RU" sz="25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 при помощи графического интерфейса </a:t>
            </a:r>
            <a:r>
              <a:rPr lang="en-US" sz="2500" dirty="0">
                <a:solidFill>
                  <a:schemeClr val="tx1"/>
                </a:solidFill>
              </a:rPr>
              <a:t>Management Studio - </a:t>
            </a:r>
            <a:r>
              <a:rPr lang="ru-RU" sz="2500" dirty="0">
                <a:solidFill>
                  <a:schemeClr val="tx1"/>
                </a:solidFill>
              </a:rPr>
              <a:t>контекстное меню для контейнера </a:t>
            </a:r>
            <a:r>
              <a:rPr lang="en-US" sz="2500" b="1" dirty="0" smtClean="0">
                <a:solidFill>
                  <a:schemeClr val="tx1"/>
                </a:solidFill>
              </a:rPr>
              <a:t>Databases</a:t>
            </a:r>
            <a:endParaRPr lang="ru-RU" sz="2500" b="1" dirty="0" smtClean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en-US" sz="2500" dirty="0" smtClean="0">
                <a:solidFill>
                  <a:schemeClr val="tx1"/>
                </a:solidFill>
              </a:rPr>
              <a:t> </a:t>
            </a:r>
            <a:r>
              <a:rPr lang="en-US" sz="2500" b="1" dirty="0">
                <a:solidFill>
                  <a:schemeClr val="tx1"/>
                </a:solidFill>
              </a:rPr>
              <a:t>Restore Database </a:t>
            </a:r>
            <a:r>
              <a:rPr lang="ru-RU" sz="2500" dirty="0">
                <a:solidFill>
                  <a:schemeClr val="tx1"/>
                </a:solidFill>
              </a:rPr>
              <a:t>или контекстное меню для базы данных </a:t>
            </a:r>
            <a:endParaRPr lang="ru-RU" sz="2500" dirty="0" smtClean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500" dirty="0" smtClean="0">
                <a:solidFill>
                  <a:schemeClr val="tx1"/>
                </a:solidFill>
              </a:rPr>
              <a:t></a:t>
            </a:r>
            <a:r>
              <a:rPr lang="en-US" sz="2500" b="1" dirty="0" smtClean="0">
                <a:solidFill>
                  <a:schemeClr val="tx1"/>
                </a:solidFill>
              </a:rPr>
              <a:t>Tasks</a:t>
            </a:r>
            <a:endParaRPr lang="ru-RU" sz="2500" b="1" dirty="0" smtClean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en-US" sz="2500" dirty="0" smtClean="0">
                <a:solidFill>
                  <a:schemeClr val="tx1"/>
                </a:solidFill>
              </a:rPr>
              <a:t> </a:t>
            </a:r>
            <a:r>
              <a:rPr lang="en-US" sz="2500" b="1" dirty="0">
                <a:solidFill>
                  <a:schemeClr val="tx1"/>
                </a:solidFill>
              </a:rPr>
              <a:t>Restore </a:t>
            </a:r>
            <a:endParaRPr lang="en-US" sz="25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 при помощи команды </a:t>
            </a:r>
            <a:r>
              <a:rPr lang="en-US" sz="2500" b="1" dirty="0">
                <a:solidFill>
                  <a:schemeClr val="tx1"/>
                </a:solidFill>
              </a:rPr>
              <a:t>RESTORE</a:t>
            </a:r>
            <a:r>
              <a:rPr lang="en-US" sz="2500" dirty="0">
                <a:solidFill>
                  <a:schemeClr val="tx1"/>
                </a:solidFill>
              </a:rPr>
              <a:t>. </a:t>
            </a:r>
            <a:endParaRPr lang="ru-RU" sz="25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endParaRPr lang="ru-RU" sz="2500" b="1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en-US" sz="2500" b="1" dirty="0">
                <a:solidFill>
                  <a:schemeClr val="tx1"/>
                </a:solidFill>
                <a:highlight>
                  <a:srgbClr val="FFFF00"/>
                </a:highlight>
              </a:rPr>
              <a:t>RESTORE DATABASE </a:t>
            </a:r>
            <a:r>
              <a:rPr lang="en-US" sz="25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TestDB</a:t>
            </a:r>
            <a:r>
              <a:rPr lang="en-US" sz="2500" b="1" dirty="0">
                <a:solidFill>
                  <a:schemeClr val="tx1"/>
                </a:solidFill>
                <a:highlight>
                  <a:srgbClr val="FFFF00"/>
                </a:highlight>
              </a:rPr>
              <a:t> FROM backupdevice1 </a:t>
            </a:r>
            <a:endParaRPr lang="en-US" sz="25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just"/>
            <a:endParaRPr lang="ru-RU" sz="25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Восстановление</a:t>
            </a:r>
          </a:p>
        </p:txBody>
      </p:sp>
    </p:spTree>
    <p:extLst>
      <p:ext uri="{BB962C8B-B14F-4D97-AF65-F5344CB8AC3E}">
        <p14:creationId xmlns:p14="http://schemas.microsoft.com/office/powerpoint/2010/main" val="186914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300" b="1" dirty="0">
                <a:solidFill>
                  <a:schemeClr val="tx1"/>
                </a:solidFill>
              </a:rPr>
              <a:t>Destination to restore ... To database </a:t>
            </a:r>
            <a:r>
              <a:rPr lang="en-US" sz="2300" dirty="0">
                <a:solidFill>
                  <a:schemeClr val="tx1"/>
                </a:solidFill>
              </a:rPr>
              <a:t>— </a:t>
            </a:r>
            <a:r>
              <a:rPr lang="ru-RU" sz="2300" dirty="0">
                <a:solidFill>
                  <a:schemeClr val="tx1"/>
                </a:solidFill>
              </a:rPr>
              <a:t>имя восстанавливаемой БД, которое может быть выбрано из списка или введено вручную. </a:t>
            </a:r>
          </a:p>
          <a:p>
            <a:pPr marL="45720" indent="0" algn="just">
              <a:buNone/>
            </a:pPr>
            <a:r>
              <a:rPr lang="en-US" sz="2300" b="1" dirty="0">
                <a:solidFill>
                  <a:schemeClr val="tx1"/>
                </a:solidFill>
              </a:rPr>
              <a:t>RESTORE DATABASE db2 FROM DISK = 'D:\</a:t>
            </a:r>
            <a:r>
              <a:rPr lang="en-US" sz="2300" b="1" dirty="0" err="1">
                <a:solidFill>
                  <a:schemeClr val="tx1"/>
                </a:solidFill>
              </a:rPr>
              <a:t>SQLBackups</a:t>
            </a:r>
            <a:r>
              <a:rPr lang="en-US" sz="2300" b="1" dirty="0">
                <a:solidFill>
                  <a:schemeClr val="tx1"/>
                </a:solidFill>
              </a:rPr>
              <a:t>\BackupFile1.bak' </a:t>
            </a:r>
            <a:endParaRPr lang="en-US" sz="2300" dirty="0">
              <a:solidFill>
                <a:schemeClr val="tx1"/>
              </a:solidFill>
            </a:endParaRPr>
          </a:p>
          <a:p>
            <a:pPr algn="just"/>
            <a:r>
              <a:rPr lang="ru-RU" sz="2300" dirty="0">
                <a:solidFill>
                  <a:schemeClr val="tx1"/>
                </a:solidFill>
              </a:rPr>
              <a:t> </a:t>
            </a:r>
            <a:r>
              <a:rPr lang="ru-RU" sz="2300" b="1" dirty="0" err="1">
                <a:solidFill>
                  <a:schemeClr val="tx1"/>
                </a:solidFill>
              </a:rPr>
              <a:t>To</a:t>
            </a:r>
            <a:r>
              <a:rPr lang="ru-RU" sz="2300" b="1" dirty="0">
                <a:solidFill>
                  <a:schemeClr val="tx1"/>
                </a:solidFill>
              </a:rPr>
              <a:t> a </a:t>
            </a:r>
            <a:r>
              <a:rPr lang="ru-RU" sz="2300" b="1" dirty="0" err="1">
                <a:solidFill>
                  <a:schemeClr val="tx1"/>
                </a:solidFill>
              </a:rPr>
              <a:t>point</a:t>
            </a:r>
            <a:r>
              <a:rPr lang="ru-RU" sz="2300" b="1" dirty="0">
                <a:solidFill>
                  <a:schemeClr val="tx1"/>
                </a:solidFill>
              </a:rPr>
              <a:t> </a:t>
            </a:r>
            <a:r>
              <a:rPr lang="ru-RU" sz="2300" b="1" dirty="0" err="1">
                <a:solidFill>
                  <a:schemeClr val="tx1"/>
                </a:solidFill>
              </a:rPr>
              <a:t>of</a:t>
            </a:r>
            <a:r>
              <a:rPr lang="ru-RU" sz="2300" b="1" dirty="0">
                <a:solidFill>
                  <a:schemeClr val="tx1"/>
                </a:solidFill>
              </a:rPr>
              <a:t> </a:t>
            </a:r>
            <a:r>
              <a:rPr lang="ru-RU" sz="2300" b="1" dirty="0" err="1">
                <a:solidFill>
                  <a:schemeClr val="tx1"/>
                </a:solidFill>
              </a:rPr>
              <a:t>time</a:t>
            </a:r>
            <a:r>
              <a:rPr lang="ru-RU" sz="2300" b="1" dirty="0">
                <a:solidFill>
                  <a:schemeClr val="tx1"/>
                </a:solidFill>
              </a:rPr>
              <a:t> </a:t>
            </a:r>
            <a:r>
              <a:rPr lang="ru-RU" sz="2300" dirty="0">
                <a:solidFill>
                  <a:schemeClr val="tx1"/>
                </a:solidFill>
              </a:rPr>
              <a:t>— возможность провести </a:t>
            </a:r>
            <a:r>
              <a:rPr lang="ru-RU" sz="2300" dirty="0">
                <a:solidFill>
                  <a:srgbClr val="FFFF00"/>
                </a:solidFill>
              </a:rPr>
              <a:t>восстановление на определенный момент времени.</a:t>
            </a:r>
            <a:r>
              <a:rPr lang="ru-RU" sz="2300" dirty="0">
                <a:solidFill>
                  <a:schemeClr val="tx1"/>
                </a:solidFill>
              </a:rPr>
              <a:t> </a:t>
            </a:r>
            <a:r>
              <a:rPr lang="ru-RU" sz="2300" u="sng" dirty="0">
                <a:solidFill>
                  <a:schemeClr val="tx1"/>
                </a:solidFill>
              </a:rPr>
              <a:t>Используется только при восстановлении журналов транзакций. </a:t>
            </a:r>
            <a:r>
              <a:rPr lang="ru-RU" sz="2300" dirty="0">
                <a:solidFill>
                  <a:schemeClr val="tx1"/>
                </a:solidFill>
              </a:rPr>
              <a:t>Этот переключатель соответствует параметру </a:t>
            </a:r>
            <a:r>
              <a:rPr lang="ru-RU" sz="2300" b="1" dirty="0">
                <a:solidFill>
                  <a:schemeClr val="tx1"/>
                </a:solidFill>
              </a:rPr>
              <a:t>STOPAT </a:t>
            </a:r>
            <a:r>
              <a:rPr lang="ru-RU" sz="2300" dirty="0">
                <a:solidFill>
                  <a:schemeClr val="tx1"/>
                </a:solidFill>
              </a:rPr>
              <a:t>команды </a:t>
            </a:r>
            <a:r>
              <a:rPr lang="ru-RU" sz="2300" b="1" dirty="0">
                <a:solidFill>
                  <a:schemeClr val="tx1"/>
                </a:solidFill>
              </a:rPr>
              <a:t>RESTORE</a:t>
            </a:r>
            <a:r>
              <a:rPr lang="ru-RU" sz="2300" dirty="0">
                <a:solidFill>
                  <a:schemeClr val="tx1"/>
                </a:solidFill>
              </a:rPr>
              <a:t>, например, </a:t>
            </a:r>
            <a:r>
              <a:rPr lang="ru-RU" sz="2300" b="1" dirty="0">
                <a:solidFill>
                  <a:schemeClr val="tx1"/>
                </a:solidFill>
              </a:rPr>
              <a:t>WITH STOPAT = '01/06/2006 12:14:24'</a:t>
            </a:r>
            <a:r>
              <a:rPr lang="ru-RU" sz="2300" dirty="0">
                <a:solidFill>
                  <a:schemeClr val="tx1"/>
                </a:solidFill>
              </a:rPr>
              <a:t>. </a:t>
            </a:r>
          </a:p>
          <a:p>
            <a:pPr algn="just"/>
            <a:endParaRPr lang="ru-RU" sz="23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500" b="1" dirty="0"/>
              <a:t>Параметры, используемые при восстановлении БД из резервной копии 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2185542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300" dirty="0">
                <a:solidFill>
                  <a:schemeClr val="tx1"/>
                </a:solidFill>
              </a:rPr>
              <a:t>Для </a:t>
            </a:r>
            <a:r>
              <a:rPr lang="ru-RU" sz="2300" dirty="0">
                <a:solidFill>
                  <a:schemeClr val="tx1"/>
                </a:solidFill>
                <a:highlight>
                  <a:srgbClr val="FFFF00"/>
                </a:highlight>
              </a:rPr>
              <a:t>команды RESTORE </a:t>
            </a:r>
            <a:r>
              <a:rPr lang="ru-RU" sz="2300" dirty="0">
                <a:solidFill>
                  <a:schemeClr val="tx1"/>
                </a:solidFill>
              </a:rPr>
              <a:t>можно указать еще два параметра: </a:t>
            </a:r>
          </a:p>
          <a:p>
            <a:pPr marL="502920" indent="-457200" algn="just">
              <a:buAutoNum type="arabicPeriod"/>
            </a:pPr>
            <a:r>
              <a:rPr lang="ru-RU" sz="2300" dirty="0">
                <a:solidFill>
                  <a:schemeClr val="tx1"/>
                </a:solidFill>
              </a:rPr>
              <a:t>восстановление на метку транзакции. Обычно метка транзакции применяется перед выполнением рискованных операций. Создать метку транзакции можно так: </a:t>
            </a:r>
          </a:p>
          <a:p>
            <a:pPr marL="45720" indent="0" algn="ctr">
              <a:buNone/>
            </a:pPr>
            <a:r>
              <a:rPr lang="ru-RU" sz="2300" b="1" dirty="0">
                <a:solidFill>
                  <a:schemeClr val="tx1"/>
                </a:solidFill>
                <a:highlight>
                  <a:srgbClr val="FFFF00"/>
                </a:highlight>
              </a:rPr>
              <a:t>BEGIN TRAN mark1 WITH MARK </a:t>
            </a:r>
            <a:endParaRPr lang="ru-RU" sz="2300" b="1" dirty="0" smtClean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marL="45720" indent="0" algn="ctr">
              <a:buNone/>
            </a:pPr>
            <a:r>
              <a:rPr lang="ru-RU" sz="2300" b="1" dirty="0" smtClean="0">
                <a:solidFill>
                  <a:schemeClr val="tx1"/>
                </a:solidFill>
                <a:highlight>
                  <a:srgbClr val="FFFF00"/>
                </a:highlight>
              </a:rPr>
              <a:t>COMMIT </a:t>
            </a:r>
            <a:r>
              <a:rPr lang="ru-RU" sz="2300" b="1" dirty="0">
                <a:solidFill>
                  <a:schemeClr val="tx1"/>
                </a:solidFill>
                <a:highlight>
                  <a:srgbClr val="FFFF00"/>
                </a:highlight>
              </a:rPr>
              <a:t>TRAN </a:t>
            </a:r>
          </a:p>
          <a:p>
            <a:pPr marL="45720" indent="0" algn="just">
              <a:buNone/>
            </a:pPr>
            <a:r>
              <a:rPr lang="ru-RU" sz="2300" dirty="0">
                <a:solidFill>
                  <a:schemeClr val="tx1"/>
                </a:solidFill>
              </a:rPr>
              <a:t>Для восстановления потребуется использовать параметр </a:t>
            </a:r>
            <a:r>
              <a:rPr lang="ru-RU" sz="2300" b="1" dirty="0">
                <a:solidFill>
                  <a:schemeClr val="tx1"/>
                </a:solidFill>
                <a:highlight>
                  <a:srgbClr val="FFFF00"/>
                </a:highlight>
              </a:rPr>
              <a:t>WITH STOPATMARK = 'mark1'</a:t>
            </a:r>
            <a:r>
              <a:rPr lang="ru-RU" sz="2300" dirty="0">
                <a:solidFill>
                  <a:schemeClr val="tx1"/>
                </a:solidFill>
                <a:highlight>
                  <a:srgbClr val="FFFF00"/>
                </a:highlight>
              </a:rPr>
              <a:t>, </a:t>
            </a:r>
            <a:r>
              <a:rPr lang="ru-RU" sz="2300" dirty="0">
                <a:solidFill>
                  <a:schemeClr val="tx1"/>
                </a:solidFill>
              </a:rPr>
              <a:t>чтобы остановиться точно на этой метке или </a:t>
            </a:r>
            <a:r>
              <a:rPr lang="ru-RU" sz="2300" b="1" dirty="0">
                <a:solidFill>
                  <a:schemeClr val="tx1"/>
                </a:solidFill>
                <a:highlight>
                  <a:srgbClr val="FFFF00"/>
                </a:highlight>
              </a:rPr>
              <a:t>WITH STOPBEFOREMARK = 'mark1' </a:t>
            </a:r>
            <a:r>
              <a:rPr lang="ru-RU" sz="2300" dirty="0">
                <a:solidFill>
                  <a:schemeClr val="tx1"/>
                </a:solidFill>
              </a:rPr>
              <a:t>для остановки точно перед этой меткой;</a:t>
            </a:r>
            <a:endParaRPr lang="ru-RU" sz="2300" b="1" dirty="0">
              <a:solidFill>
                <a:schemeClr val="tx1"/>
              </a:solidFill>
            </a:endParaRPr>
          </a:p>
          <a:p>
            <a:pPr algn="just"/>
            <a:endParaRPr lang="en-US" sz="2300" dirty="0">
              <a:solidFill>
                <a:schemeClr val="tx1"/>
              </a:solidFill>
            </a:endParaRPr>
          </a:p>
          <a:p>
            <a:pPr algn="just"/>
            <a:endParaRPr lang="ru-RU" sz="2300" dirty="0">
              <a:solidFill>
                <a:schemeClr val="tx1"/>
              </a:solidFill>
            </a:endParaRPr>
          </a:p>
          <a:p>
            <a:pPr algn="just"/>
            <a:endParaRPr lang="ru-RU" sz="23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500" b="1" dirty="0"/>
              <a:t>Параметры, используемые при восстановлении БД из резервной копии 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4271208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500" b="1" dirty="0"/>
              <a:t>Параметры, используемые при восстановлении БД из резервной копии </a:t>
            </a:r>
            <a:endParaRPr lang="ru-RU" sz="25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684"/>
          <a:stretch/>
        </p:blipFill>
        <p:spPr bwMode="auto">
          <a:xfrm>
            <a:off x="251520" y="1628798"/>
            <a:ext cx="4824536" cy="5040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21" r="42201"/>
          <a:stretch/>
        </p:blipFill>
        <p:spPr bwMode="auto">
          <a:xfrm>
            <a:off x="4435892" y="2780928"/>
            <a:ext cx="4438953" cy="3222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1066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2. восстановление на номер последовательности в журнале транзакций— </a:t>
            </a:r>
            <a:r>
              <a:rPr lang="en-US" sz="2500" dirty="0">
                <a:solidFill>
                  <a:schemeClr val="tx1"/>
                </a:solidFill>
                <a:highlight>
                  <a:srgbClr val="FFFF00"/>
                </a:highlight>
              </a:rPr>
              <a:t>log sequence number, LSN</a:t>
            </a:r>
            <a:r>
              <a:rPr lang="en-US" sz="2500" dirty="0">
                <a:solidFill>
                  <a:schemeClr val="tx1"/>
                </a:solidFill>
              </a:rPr>
              <a:t>. </a:t>
            </a:r>
            <a:endParaRPr lang="ru-RU" sz="25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Номер </a:t>
            </a:r>
            <a:r>
              <a:rPr lang="en-US" sz="2500" dirty="0">
                <a:solidFill>
                  <a:schemeClr val="tx1"/>
                </a:solidFill>
              </a:rPr>
              <a:t>LSN </a:t>
            </a:r>
            <a:r>
              <a:rPr lang="ru-RU" sz="2500" dirty="0">
                <a:solidFill>
                  <a:schemeClr val="tx1"/>
                </a:solidFill>
              </a:rPr>
              <a:t>есть у каждой операции, которая зафиксирована в журнале транзакций. </a:t>
            </a:r>
          </a:p>
          <a:p>
            <a:pPr marL="45720" indent="0" algn="just">
              <a:buNone/>
            </a:pPr>
            <a:endParaRPr lang="ru-RU" sz="25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После того, как номер </a:t>
            </a:r>
            <a:r>
              <a:rPr lang="en-US" sz="2500" dirty="0">
                <a:solidFill>
                  <a:schemeClr val="tx1"/>
                </a:solidFill>
              </a:rPr>
              <a:t>LSN </a:t>
            </a:r>
            <a:r>
              <a:rPr lang="ru-RU" sz="2500" dirty="0">
                <a:solidFill>
                  <a:schemeClr val="tx1"/>
                </a:solidFill>
              </a:rPr>
              <a:t>найден, используются параметры </a:t>
            </a:r>
            <a:r>
              <a:rPr lang="en-US" sz="2500" dirty="0">
                <a:solidFill>
                  <a:schemeClr val="tx1"/>
                </a:solidFill>
                <a:highlight>
                  <a:srgbClr val="FFFF00"/>
                </a:highlight>
              </a:rPr>
              <a:t>STOPATMARK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ru-RU" sz="2500" dirty="0">
                <a:solidFill>
                  <a:schemeClr val="tx1"/>
                </a:solidFill>
              </a:rPr>
              <a:t>или </a:t>
            </a:r>
            <a:r>
              <a:rPr lang="en-US" sz="2500" dirty="0">
                <a:solidFill>
                  <a:schemeClr val="tx1"/>
                </a:solidFill>
                <a:highlight>
                  <a:srgbClr val="FFFF00"/>
                </a:highlight>
              </a:rPr>
              <a:t>STOPBEFOREMARK</a:t>
            </a:r>
            <a:r>
              <a:rPr lang="en-US" sz="2500" dirty="0">
                <a:solidFill>
                  <a:schemeClr val="tx1"/>
                </a:solidFill>
              </a:rPr>
              <a:t>, </a:t>
            </a:r>
            <a:r>
              <a:rPr lang="ru-RU" sz="2500" dirty="0">
                <a:solidFill>
                  <a:schemeClr val="tx1"/>
                </a:solidFill>
              </a:rPr>
              <a:t>например: </a:t>
            </a:r>
          </a:p>
          <a:p>
            <a:pPr marL="45720" indent="0" algn="just">
              <a:buNone/>
            </a:pPr>
            <a:endParaRPr lang="ru-RU" sz="2500" b="1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en-US" sz="2500" b="1" dirty="0">
                <a:solidFill>
                  <a:schemeClr val="tx1"/>
                </a:solidFill>
                <a:highlight>
                  <a:srgbClr val="FFFF00"/>
                </a:highlight>
              </a:rPr>
              <a:t>RESTORE LOG db1 FROM DISK = 'D:\</a:t>
            </a:r>
            <a:r>
              <a:rPr lang="en-US" sz="2500" b="1" dirty="0" err="1">
                <a:solidFill>
                  <a:schemeClr val="tx1"/>
                </a:solidFill>
                <a:highlight>
                  <a:srgbClr val="FFFF00"/>
                </a:highlight>
              </a:rPr>
              <a:t>SQLBackups</a:t>
            </a:r>
            <a:r>
              <a:rPr lang="en-US" sz="2500" b="1" dirty="0">
                <a:solidFill>
                  <a:schemeClr val="tx1"/>
                </a:solidFill>
                <a:highlight>
                  <a:srgbClr val="FFFF00"/>
                </a:highlight>
              </a:rPr>
              <a:t>\BackupFile1.bak' WITH STOPATMARK = 'lsn:120'</a:t>
            </a:r>
            <a:endParaRPr lang="ru-RU" sz="2500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500" b="1" dirty="0"/>
              <a:t>Параметры, используемые при восстановлении БД из резервной копии 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163471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1556792"/>
            <a:ext cx="8784975" cy="4407408"/>
          </a:xfrm>
        </p:spPr>
        <p:txBody>
          <a:bodyPr>
            <a:noAutofit/>
          </a:bodyPr>
          <a:lstStyle/>
          <a:p>
            <a:pPr algn="just"/>
            <a:r>
              <a:rPr lang="ru-RU" b="1" dirty="0" err="1">
                <a:solidFill>
                  <a:schemeClr val="tx1"/>
                </a:solidFill>
              </a:rPr>
              <a:t>From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database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 для обнаружения резервных копий будет использоваться история резервного копирования из таблиц базы данных </a:t>
            </a:r>
            <a:r>
              <a:rPr lang="ru-RU" b="1" dirty="0" err="1">
                <a:solidFill>
                  <a:schemeClr val="tx1"/>
                </a:solidFill>
              </a:rPr>
              <a:t>Msdb</a:t>
            </a:r>
            <a:r>
              <a:rPr lang="ru-RU" dirty="0">
                <a:solidFill>
                  <a:schemeClr val="tx1"/>
                </a:solidFill>
              </a:rPr>
              <a:t>. В списке можно выбрать не только текущую базу данных, но и другие базы данных, которые есть на этом сервере; </a:t>
            </a:r>
          </a:p>
          <a:p>
            <a:pPr algn="just"/>
            <a:r>
              <a:rPr lang="ru-RU" b="1" dirty="0" err="1">
                <a:solidFill>
                  <a:schemeClr val="tx1"/>
                </a:solidFill>
              </a:rPr>
              <a:t>From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device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 вам потребуется указать местонахождение резервной копии явно. Эта возможность используется в тех ситуациях, когда вам нужно восстановить базу данных на другой сервер, или местонахождение резервной копии изменилось. </a:t>
            </a:r>
          </a:p>
          <a:p>
            <a:pPr algn="just"/>
            <a:r>
              <a:rPr lang="ru-RU" b="1" dirty="0" err="1">
                <a:solidFill>
                  <a:schemeClr val="tx1"/>
                </a:solidFill>
              </a:rPr>
              <a:t>Select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the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backup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sets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to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restore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 в этом списке вам потребуется установить флажки напротив тех резервных копий, которые вы планируете восстановить. Флажки можно поставить напротив нескольких резервных копий. В этом случае для каждой выбранной резервной копии будет выполнена отдельная команда RESTORE. </a:t>
            </a:r>
          </a:p>
          <a:p>
            <a:pPr algn="just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5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500" b="1" dirty="0"/>
              <a:t>Параметры, используемые при восстановлении БД из резервной копии 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3767544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1556792"/>
            <a:ext cx="8640960" cy="4407408"/>
          </a:xfrm>
        </p:spPr>
        <p:txBody>
          <a:bodyPr>
            <a:noAutofit/>
          </a:bodyPr>
          <a:lstStyle/>
          <a:p>
            <a:pPr algn="just"/>
            <a:r>
              <a:rPr lang="ru-RU" b="1" dirty="0" err="1">
                <a:solidFill>
                  <a:schemeClr val="tx1"/>
                </a:solidFill>
              </a:rPr>
              <a:t>Overwrite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the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existing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database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 установленный флажок позволяет перезаписать существующую БД. Фактически он отменяет проверки, которые призваны не допустить потери данных в случае ошибочного восстановления. Для отмены проверок используется параметр </a:t>
            </a:r>
            <a:r>
              <a:rPr lang="ru-RU" b="1" dirty="0">
                <a:solidFill>
                  <a:schemeClr val="tx1"/>
                </a:solidFill>
              </a:rPr>
              <a:t>WITH REPLACE </a:t>
            </a:r>
            <a:r>
              <a:rPr lang="ru-RU" dirty="0">
                <a:solidFill>
                  <a:schemeClr val="tx1"/>
                </a:solidFill>
              </a:rPr>
              <a:t>в команде RESTORE. </a:t>
            </a:r>
          </a:p>
          <a:p>
            <a:pPr marL="45720" indent="0" algn="ctr">
              <a:buNone/>
            </a:pPr>
            <a:r>
              <a:rPr lang="ru-RU" u="sng" dirty="0">
                <a:solidFill>
                  <a:schemeClr val="tx1"/>
                </a:solidFill>
              </a:rPr>
              <a:t>Таких проверок предусмотрено три:</a:t>
            </a:r>
          </a:p>
          <a:p>
            <a:pPr algn="just"/>
            <a:r>
              <a:rPr lang="ru-RU" dirty="0">
                <a:solidFill>
                  <a:schemeClr val="tx1"/>
                </a:solidFill>
              </a:rPr>
              <a:t> запрещено восстанавливать резервную копию чужой БД  на сервер, если под этим именем на сервере есть своя БД;</a:t>
            </a:r>
          </a:p>
          <a:p>
            <a:pPr algn="just"/>
            <a:r>
              <a:rPr lang="ru-RU" dirty="0">
                <a:solidFill>
                  <a:schemeClr val="tx1"/>
                </a:solidFill>
              </a:rPr>
              <a:t>запрещено перезаписывать файлы, которые относятся к БД, находящимся в автономном режиме (</a:t>
            </a:r>
            <a:r>
              <a:rPr lang="ru-RU" dirty="0" err="1">
                <a:solidFill>
                  <a:schemeClr val="tx1"/>
                </a:solidFill>
              </a:rPr>
              <a:t>offline</a:t>
            </a:r>
            <a:r>
              <a:rPr lang="ru-RU" dirty="0">
                <a:solidFill>
                  <a:schemeClr val="tx1"/>
                </a:solidFill>
              </a:rPr>
              <a:t>), и, кроме этого, вообще любые файлы, которые не относятся к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; </a:t>
            </a:r>
          </a:p>
          <a:p>
            <a:pPr algn="just"/>
            <a:r>
              <a:rPr lang="ru-RU" dirty="0">
                <a:solidFill>
                  <a:schemeClr val="tx1"/>
                </a:solidFill>
              </a:rPr>
              <a:t>запрещено производить восстановление БД, если на ней осталась часть журнала транзакций, резервное копирование которой еще не производилось (</a:t>
            </a:r>
            <a:r>
              <a:rPr lang="ru-RU" dirty="0" err="1">
                <a:solidFill>
                  <a:schemeClr val="tx1"/>
                </a:solidFill>
              </a:rPr>
              <a:t>tail-log</a:t>
            </a:r>
            <a:r>
              <a:rPr lang="ru-RU" dirty="0">
                <a:solidFill>
                  <a:schemeClr val="tx1"/>
                </a:solidFill>
              </a:rPr>
              <a:t>). </a:t>
            </a:r>
          </a:p>
          <a:p>
            <a:pPr algn="just"/>
            <a:endParaRPr lang="ru-RU" dirty="0">
              <a:solidFill>
                <a:schemeClr val="tx1"/>
              </a:solidFill>
            </a:endParaRPr>
          </a:p>
          <a:p>
            <a:pPr algn="just"/>
            <a:endParaRPr lang="ru-RU" dirty="0">
              <a:solidFill>
                <a:schemeClr val="tx1"/>
              </a:solidFill>
            </a:endParaRPr>
          </a:p>
          <a:p>
            <a:pPr algn="just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5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Дополнительные параметры восстановления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4754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1613880"/>
            <a:ext cx="8496944" cy="4407408"/>
          </a:xfrm>
        </p:spPr>
        <p:txBody>
          <a:bodyPr>
            <a:noAutofit/>
          </a:bodyPr>
          <a:lstStyle/>
          <a:p>
            <a:pPr algn="just"/>
            <a:r>
              <a:rPr lang="ru-RU" b="1" dirty="0" err="1">
                <a:solidFill>
                  <a:schemeClr val="tx1"/>
                </a:solidFill>
              </a:rPr>
              <a:t>Preserve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the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replication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settings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 сохранить настройки репликации при восстановлении. Соответствует параметру KEEP_REPLICATION команды RESTORE. Обычно используется только тогда, когда БД одновременно участвует и в репликации, и в автоматической доставке журналов — </a:t>
            </a:r>
            <a:r>
              <a:rPr lang="ru-RU" dirty="0" err="1">
                <a:solidFill>
                  <a:schemeClr val="tx1"/>
                </a:solidFill>
              </a:rPr>
              <a:t>log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shipping</a:t>
            </a:r>
            <a:r>
              <a:rPr lang="ru-RU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ru-RU" b="1" dirty="0" err="1">
                <a:solidFill>
                  <a:schemeClr val="tx1"/>
                </a:solidFill>
              </a:rPr>
              <a:t>Prompt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before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restoring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each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backup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 выводить приглашение перед восстановлением каждой следующей резервной копии из выбранного списка. Обычно </a:t>
            </a:r>
            <a:r>
              <a:rPr lang="ru-RU" dirty="0">
                <a:solidFill>
                  <a:srgbClr val="FFFF00"/>
                </a:solidFill>
              </a:rPr>
              <a:t>этот параметр используется только тогда, когда каждая копия лежит на своем картридже </a:t>
            </a:r>
            <a:r>
              <a:rPr lang="ru-RU" dirty="0" err="1">
                <a:solidFill>
                  <a:srgbClr val="FFFF00"/>
                </a:solidFill>
              </a:rPr>
              <a:t>стриммера</a:t>
            </a:r>
            <a:r>
              <a:rPr lang="ru-RU" dirty="0">
                <a:solidFill>
                  <a:srgbClr val="FFFF00"/>
                </a:solidFill>
              </a:rPr>
              <a:t>, и нужно их менять. </a:t>
            </a:r>
          </a:p>
          <a:p>
            <a:pPr marL="45720" indent="0" algn="just">
              <a:buNone/>
            </a:pPr>
            <a:r>
              <a:rPr lang="ru-RU" b="1" dirty="0">
                <a:solidFill>
                  <a:schemeClr val="tx1"/>
                </a:solidFill>
              </a:rPr>
              <a:t>Этот параметр можно настроить только на графическом экране </a:t>
            </a:r>
            <a:r>
              <a:rPr lang="ru-RU" b="1" dirty="0" err="1">
                <a:solidFill>
                  <a:schemeClr val="tx1"/>
                </a:solidFill>
              </a:rPr>
              <a:t>Management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Studio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(поскольку в коде </a:t>
            </a:r>
            <a:r>
              <a:rPr lang="ru-RU" dirty="0" err="1">
                <a:solidFill>
                  <a:schemeClr val="tx1"/>
                </a:solidFill>
              </a:rPr>
              <a:t>Transact</a:t>
            </a:r>
            <a:r>
              <a:rPr lang="ru-RU" dirty="0">
                <a:solidFill>
                  <a:schemeClr val="tx1"/>
                </a:solidFill>
              </a:rPr>
              <a:t>-SQL для восстановления каждой резервной копии вам придется использовать свою собственную команду RESTORE). </a:t>
            </a:r>
          </a:p>
          <a:p>
            <a:pPr algn="just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5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Дополнительные параметры восстановления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1977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1556792"/>
            <a:ext cx="8856984" cy="4407408"/>
          </a:xfrm>
        </p:spPr>
        <p:txBody>
          <a:bodyPr>
            <a:noAutofit/>
          </a:bodyPr>
          <a:lstStyle/>
          <a:p>
            <a:pPr algn="just"/>
            <a:r>
              <a:rPr lang="ru-RU" b="1" dirty="0" err="1">
                <a:solidFill>
                  <a:schemeClr val="tx1"/>
                </a:solidFill>
              </a:rPr>
              <a:t>Restrict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access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to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the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restored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database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 ограничить доступ к восстанавливаемой базе данных. Это значит, что после восстановления доступ будет открыт только членам роли базы данных </a:t>
            </a:r>
            <a:r>
              <a:rPr lang="ru-RU" dirty="0" err="1">
                <a:solidFill>
                  <a:srgbClr val="FFFF00"/>
                </a:solidFill>
              </a:rPr>
              <a:t>db_owner</a:t>
            </a:r>
            <a:r>
              <a:rPr lang="ru-RU" dirty="0">
                <a:solidFill>
                  <a:srgbClr val="FFFF00"/>
                </a:solidFill>
              </a:rPr>
              <a:t> и членам серверных ролей </a:t>
            </a:r>
            <a:r>
              <a:rPr lang="ru-RU" dirty="0" err="1">
                <a:solidFill>
                  <a:srgbClr val="FFFF00"/>
                </a:solidFill>
              </a:rPr>
              <a:t>dbcreator</a:t>
            </a:r>
            <a:r>
              <a:rPr lang="ru-RU" dirty="0">
                <a:solidFill>
                  <a:srgbClr val="FFFF00"/>
                </a:solidFill>
              </a:rPr>
              <a:t> и </a:t>
            </a:r>
            <a:r>
              <a:rPr lang="ru-RU" dirty="0" err="1">
                <a:solidFill>
                  <a:srgbClr val="FFFF00"/>
                </a:solidFill>
              </a:rPr>
              <a:t>sysadmin</a:t>
            </a:r>
            <a:r>
              <a:rPr lang="ru-RU" dirty="0">
                <a:solidFill>
                  <a:srgbClr val="FFFF00"/>
                </a:solidFill>
              </a:rPr>
              <a:t>.</a:t>
            </a:r>
            <a:r>
              <a:rPr lang="ru-RU" dirty="0">
                <a:solidFill>
                  <a:schemeClr val="tx1"/>
                </a:solidFill>
              </a:rPr>
              <a:t> Этот параметр обычно применяется в тех ситуациях, когда после восстановления базы данных вам необходимо произвести дополнительные проверки или внести исправления. Ему соответствует параметр команды </a:t>
            </a:r>
            <a:r>
              <a:rPr lang="ru-RU" b="1" dirty="0">
                <a:solidFill>
                  <a:schemeClr val="tx1"/>
                </a:solidFill>
              </a:rPr>
              <a:t>RESTORE WITH RESTRICTED_USER. 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Restore the database files as</a:t>
            </a:r>
            <a:r>
              <a:rPr lang="en-US" dirty="0">
                <a:solidFill>
                  <a:schemeClr val="tx1"/>
                </a:solidFill>
              </a:rPr>
              <a:t>— </a:t>
            </a:r>
            <a:r>
              <a:rPr lang="ru-RU" dirty="0">
                <a:solidFill>
                  <a:schemeClr val="tx1"/>
                </a:solidFill>
              </a:rPr>
              <a:t>позволяет определить новый путь для восстанавливаемых файлов баз данных. Этому флажку в команде </a:t>
            </a:r>
            <a:r>
              <a:rPr lang="en-US" dirty="0">
                <a:solidFill>
                  <a:schemeClr val="tx1"/>
                </a:solidFill>
              </a:rPr>
              <a:t>RESTORE </a:t>
            </a:r>
            <a:r>
              <a:rPr lang="ru-RU" dirty="0">
                <a:solidFill>
                  <a:schemeClr val="tx1"/>
                </a:solidFill>
              </a:rPr>
              <a:t>соответствует параметр </a:t>
            </a:r>
            <a:r>
              <a:rPr lang="en-US" b="1" dirty="0">
                <a:solidFill>
                  <a:schemeClr val="tx1"/>
                </a:solidFill>
              </a:rPr>
              <a:t>MOVE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ru-RU" dirty="0">
                <a:solidFill>
                  <a:schemeClr val="tx1"/>
                </a:solidFill>
              </a:rPr>
              <a:t>например: </a:t>
            </a:r>
            <a:r>
              <a:rPr lang="en-US" b="1" dirty="0">
                <a:solidFill>
                  <a:schemeClr val="tx1"/>
                </a:solidFill>
              </a:rPr>
              <a:t>RESTORE DATABASE db1 FROM DISK = 'D:\</a:t>
            </a:r>
            <a:r>
              <a:rPr lang="en-US" b="1" dirty="0" err="1">
                <a:solidFill>
                  <a:schemeClr val="tx1"/>
                </a:solidFill>
              </a:rPr>
              <a:t>SQLbackups</a:t>
            </a:r>
            <a:r>
              <a:rPr lang="en-US" b="1" dirty="0">
                <a:solidFill>
                  <a:schemeClr val="tx1"/>
                </a:solidFill>
              </a:rPr>
              <a:t>\BackupFile1.bak' WITH MOVE 'db1' TO 'D:\db1.mdf', MOVE 'db1_log' TO 'D:\db1_log.mdf' 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5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Дополнительные параметры восстановления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13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1556792"/>
            <a:ext cx="8856984" cy="4407408"/>
          </a:xfrm>
        </p:spPr>
        <p:txBody>
          <a:bodyPr>
            <a:noAutofit/>
          </a:bodyPr>
          <a:lstStyle/>
          <a:p>
            <a:pPr algn="just"/>
            <a:r>
              <a:rPr lang="ru-RU" b="1" dirty="0" err="1">
                <a:solidFill>
                  <a:schemeClr val="tx1"/>
                </a:solidFill>
              </a:rPr>
              <a:t>Recovery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state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— определяет, будет ли БД открыта для пользователей после окончания восстановления с носителя. В вашем распоряжении — три варианта: </a:t>
            </a:r>
          </a:p>
          <a:p>
            <a:pPr marL="45720" indent="0" algn="just">
              <a:buNone/>
            </a:pPr>
            <a:r>
              <a:rPr lang="ru-RU" b="1" dirty="0">
                <a:solidFill>
                  <a:schemeClr val="tx1"/>
                </a:solidFill>
              </a:rPr>
              <a:t>WITH RECOVERY </a:t>
            </a:r>
            <a:r>
              <a:rPr lang="ru-RU" dirty="0">
                <a:solidFill>
                  <a:schemeClr val="tx1"/>
                </a:solidFill>
              </a:rPr>
              <a:t>— восстановление в обычном режиме. Этот параметр используется по умолчанию; </a:t>
            </a:r>
          </a:p>
          <a:p>
            <a:pPr marL="45720" indent="0" algn="just">
              <a:buNone/>
            </a:pPr>
            <a:r>
              <a:rPr lang="ru-RU" b="1" dirty="0">
                <a:solidFill>
                  <a:schemeClr val="tx1"/>
                </a:solidFill>
              </a:rPr>
              <a:t>WITH NORECOVERY </a:t>
            </a:r>
            <a:r>
              <a:rPr lang="ru-RU" dirty="0">
                <a:solidFill>
                  <a:schemeClr val="tx1"/>
                </a:solidFill>
              </a:rPr>
              <a:t>— после окончания процесса восстановления процедура RECOVERY не начнется. </a:t>
            </a:r>
            <a:r>
              <a:rPr lang="ru-RU" dirty="0" smtClean="0">
                <a:solidFill>
                  <a:schemeClr val="tx1"/>
                </a:solidFill>
              </a:rPr>
              <a:t>БД останется </a:t>
            </a:r>
            <a:r>
              <a:rPr lang="ru-RU" dirty="0">
                <a:solidFill>
                  <a:schemeClr val="tx1"/>
                </a:solidFill>
              </a:rPr>
              <a:t>в нерабочем состоянии восстановления. </a:t>
            </a:r>
            <a:r>
              <a:rPr lang="ru-RU" dirty="0">
                <a:solidFill>
                  <a:srgbClr val="FFFF00"/>
                </a:solidFill>
              </a:rPr>
              <a:t>Этот параметр используется если хотите восстановить дополнительную резервную копию (например, резервную копию журнала транзакций); </a:t>
            </a:r>
          </a:p>
          <a:p>
            <a:pPr marL="45720" indent="0" algn="just">
              <a:buNone/>
            </a:pPr>
            <a:r>
              <a:rPr lang="ru-RU" b="1" dirty="0">
                <a:solidFill>
                  <a:schemeClr val="tx1"/>
                </a:solidFill>
              </a:rPr>
              <a:t>WITH STANDBY </a:t>
            </a:r>
            <a:r>
              <a:rPr lang="ru-RU" dirty="0">
                <a:solidFill>
                  <a:schemeClr val="tx1"/>
                </a:solidFill>
              </a:rPr>
              <a:t>— процедура RECOVERY начнется, но вся информация о всех отмененных незавершенных транзакциях будет записана в файл отмены. Пользователи смогут обращаться к БД в режиме </a:t>
            </a:r>
            <a:r>
              <a:rPr lang="ru-RU" dirty="0" err="1">
                <a:solidFill>
                  <a:schemeClr val="tx1"/>
                </a:solidFill>
              </a:rPr>
              <a:t>read-only</a:t>
            </a:r>
            <a:r>
              <a:rPr lang="ru-RU" dirty="0">
                <a:solidFill>
                  <a:schemeClr val="tx1"/>
                </a:solidFill>
              </a:rPr>
              <a:t>, при этом сохраняется возможность восстановления следующих резервных копий журналов транзакций. </a:t>
            </a:r>
          </a:p>
          <a:p>
            <a:pPr algn="just"/>
            <a:endParaRPr lang="ru-RU" dirty="0">
              <a:solidFill>
                <a:schemeClr val="tx1"/>
              </a:solidFill>
            </a:endParaRPr>
          </a:p>
          <a:p>
            <a:pPr algn="just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5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Дополнительные параметры восстановления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347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0A96962-A739-47A4-A7C9-8A0EAF1C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5B46D3B-55AB-4FEE-8B9B-1F03F12A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параметры восстановления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DDEAA18-44E1-4EDB-9F82-E3BC8167E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90" y="1655787"/>
            <a:ext cx="6120680" cy="497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1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032" y="2492531"/>
            <a:ext cx="4636251" cy="416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2753" y="980728"/>
            <a:ext cx="8946453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Выбор </a:t>
            </a:r>
            <a:r>
              <a:rPr lang="ru-RU" b="1" dirty="0" err="1"/>
              <a:t>Leave</a:t>
            </a:r>
            <a:r>
              <a:rPr lang="ru-RU" b="1" dirty="0"/>
              <a:t> </a:t>
            </a:r>
            <a:r>
              <a:rPr lang="ru-RU" b="1" dirty="0" err="1"/>
              <a:t>the</a:t>
            </a:r>
            <a:r>
              <a:rPr lang="ru-RU" b="1" dirty="0"/>
              <a:t> </a:t>
            </a:r>
            <a:r>
              <a:rPr lang="en-US" b="1" dirty="0"/>
              <a:t>database ready to use by rolling back uncommitted transactions</a:t>
            </a:r>
            <a:r>
              <a:rPr lang="en-US" dirty="0"/>
              <a:t> </a:t>
            </a:r>
            <a:r>
              <a:rPr lang="en-US" dirty="0" err="1"/>
              <a:t>указывает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Engine</a:t>
            </a:r>
            <a:r>
              <a:rPr lang="ru-RU" dirty="0"/>
              <a:t> выполнить накат всех подтвержденных и откат всех неподтвержденных транзакций. После применения этой опции БД будет находиться в согласованном состоянии и готова к использованию. Эта опция эквивалентна выполнению инструкции </a:t>
            </a:r>
            <a:r>
              <a:rPr lang="ru-RU" b="1" dirty="0"/>
              <a:t>RESTORE DATABASE с опцией RECOVERY</a:t>
            </a:r>
            <a:r>
              <a:rPr lang="ru-RU" dirty="0"/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41C5854-6D9C-4E35-B671-F6907905B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8" y="2458056"/>
            <a:ext cx="4464496" cy="4196564"/>
          </a:xfrm>
          <a:prstGeom prst="rect">
            <a:avLst/>
          </a:prstGeom>
        </p:spPr>
      </p:pic>
      <p:cxnSp>
        <p:nvCxnSpPr>
          <p:cNvPr id="7" name="Прямая со стрелкой 6"/>
          <p:cNvCxnSpPr>
            <a:cxnSpLocks/>
          </p:cNvCxnSpPr>
          <p:nvPr/>
        </p:nvCxnSpPr>
        <p:spPr>
          <a:xfrm>
            <a:off x="2627784" y="1282031"/>
            <a:ext cx="3168352" cy="3384146"/>
          </a:xfrm>
          <a:prstGeom prst="straightConnector1">
            <a:avLst/>
          </a:prstGeom>
          <a:ln w="635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Заголовок 3">
            <a:extLst>
              <a:ext uri="{FF2B5EF4-FFF2-40B4-BE49-F238E27FC236}">
                <a16:creationId xmlns:a16="http://schemas.microsoft.com/office/drawing/2014/main" id="{C6ACFF65-B5B3-4BD2-B04E-310F37AF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228" y="44624"/>
            <a:ext cx="8381260" cy="1054394"/>
          </a:xfrm>
        </p:spPr>
        <p:txBody>
          <a:bodyPr/>
          <a:lstStyle/>
          <a:p>
            <a:r>
              <a:rPr lang="ru-RU" b="1" dirty="0"/>
              <a:t>параметры восстановления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30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Процесс восстановления базы данных из разностной резервной копии эквивалентен процессу восстановления из полной резервной копии базы данных.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В диалоговом окне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Backup</a:t>
            </a:r>
            <a:r>
              <a:rPr lang="ru-RU" dirty="0">
                <a:solidFill>
                  <a:schemeClr val="tx1"/>
                </a:solidFill>
              </a:rPr>
              <a:t> в качестве типа резервной копии нужно выбрать </a:t>
            </a:r>
            <a:r>
              <a:rPr lang="ru-RU" b="1" dirty="0">
                <a:solidFill>
                  <a:schemeClr val="tx1"/>
                </a:solidFill>
              </a:rPr>
              <a:t>разностную резервную копию (</a:t>
            </a:r>
            <a:r>
              <a:rPr lang="ru-RU" b="1" dirty="0" err="1">
                <a:solidFill>
                  <a:schemeClr val="tx1"/>
                </a:solidFill>
              </a:rPr>
              <a:t>Differential</a:t>
            </a:r>
            <a:r>
              <a:rPr lang="ru-RU" b="1" dirty="0">
                <a:solidFill>
                  <a:schemeClr val="tx1"/>
                </a:solidFill>
              </a:rPr>
              <a:t>).</a:t>
            </a:r>
            <a:r>
              <a:rPr lang="ru-RU" dirty="0">
                <a:solidFill>
                  <a:schemeClr val="tx1"/>
                </a:solidFill>
              </a:rPr>
              <a:t>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Для восстановления с помощью разностной резервной копии можно выбрать только первый из трех переключателей в нижней полови</a:t>
            </a:r>
            <a:r>
              <a:rPr lang="en-US" dirty="0" err="1">
                <a:solidFill>
                  <a:schemeClr val="tx1"/>
                </a:solidFill>
              </a:rPr>
              <a:t>не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страницы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Options</a:t>
            </a:r>
            <a:r>
              <a:rPr lang="en-US" dirty="0">
                <a:solidFill>
                  <a:schemeClr val="tx1"/>
                </a:solidFill>
              </a:rPr>
              <a:t>, т. е. </a:t>
            </a:r>
            <a:r>
              <a:rPr lang="en-US" b="1" dirty="0" err="1">
                <a:solidFill>
                  <a:srgbClr val="FF0000"/>
                </a:solidFill>
              </a:rPr>
              <a:t>переключатель</a:t>
            </a:r>
            <a:r>
              <a:rPr lang="en-US" b="1" dirty="0">
                <a:solidFill>
                  <a:srgbClr val="FF0000"/>
                </a:solidFill>
              </a:rPr>
              <a:t> Leave the database ready to use by rolling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back uncommitted transactions.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восстановлениЕ</a:t>
            </a:r>
            <a:endParaRPr lang="ru-RU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360200"/>
            <a:ext cx="5344829" cy="4798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Прямая соединительная линия 6"/>
          <p:cNvCxnSpPr/>
          <p:nvPr/>
        </p:nvCxnSpPr>
        <p:spPr>
          <a:xfrm>
            <a:off x="4139952" y="4077072"/>
            <a:ext cx="367240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3">
            <a:extLst>
              <a:ext uri="{FF2B5EF4-FFF2-40B4-BE49-F238E27FC236}">
                <a16:creationId xmlns:a16="http://schemas.microsoft.com/office/drawing/2014/main" id="{365D3BB1-8822-4E45-B7F7-CD24141E3DF7}"/>
              </a:ext>
            </a:extLst>
          </p:cNvPr>
          <p:cNvSpPr txBox="1">
            <a:spLocks/>
          </p:cNvSpPr>
          <p:nvPr/>
        </p:nvSpPr>
        <p:spPr>
          <a:xfrm>
            <a:off x="583228" y="44624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 cap="all" spc="20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параметры восстановления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937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500" i="1" dirty="0">
                <a:solidFill>
                  <a:schemeClr val="tx1"/>
                </a:solidFill>
              </a:rPr>
              <a:t>Оперативное восстановление </a:t>
            </a:r>
            <a:r>
              <a:rPr lang="ru-RU" sz="2500" dirty="0">
                <a:solidFill>
                  <a:schemeClr val="tx1"/>
                </a:solidFill>
              </a:rPr>
              <a:t>(</a:t>
            </a:r>
            <a:r>
              <a:rPr lang="ru-RU" sz="2500" dirty="0" err="1">
                <a:solidFill>
                  <a:schemeClr val="tx1"/>
                </a:solidFill>
              </a:rPr>
              <a:t>online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restore</a:t>
            </a:r>
            <a:r>
              <a:rPr lang="ru-RU" sz="2500" dirty="0">
                <a:solidFill>
                  <a:schemeClr val="tx1"/>
                </a:solidFill>
              </a:rPr>
              <a:t>) — возможность восстановления на работающей базе данных. Если возможно,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автоматически применяет режим оперативного восстановления при восстановлении отдельных файлов или файловых групп, а также при страничном восстановлении. </a:t>
            </a:r>
          </a:p>
          <a:p>
            <a:pPr algn="just"/>
            <a:r>
              <a:rPr lang="ru-RU" sz="2500" dirty="0">
                <a:solidFill>
                  <a:schemeClr val="tx1"/>
                </a:solidFill>
              </a:rPr>
              <a:t>Чтобы запретить применение оперативного восстановления можно перед восстановлением выполнить команду </a:t>
            </a:r>
            <a:r>
              <a:rPr lang="ru-RU" sz="2500" b="1" dirty="0">
                <a:solidFill>
                  <a:schemeClr val="tx1"/>
                </a:solidFill>
              </a:rPr>
              <a:t>BACKUP LOG WITH NORECOVERY</a:t>
            </a:r>
            <a:r>
              <a:rPr lang="ru-RU" sz="2500" dirty="0">
                <a:solidFill>
                  <a:schemeClr val="tx1"/>
                </a:solidFill>
              </a:rPr>
              <a:t>. </a:t>
            </a:r>
          </a:p>
          <a:p>
            <a:pPr marL="45720" indent="0" algn="just">
              <a:buNone/>
            </a:pPr>
            <a:endParaRPr lang="ru-RU" sz="25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Восстановление базы данных в оперативном режиме (</a:t>
            </a:r>
            <a:r>
              <a:rPr lang="ru-RU" b="1" dirty="0" err="1"/>
              <a:t>online</a:t>
            </a:r>
            <a:r>
              <a:rPr lang="ru-RU" b="1" dirty="0"/>
              <a:t>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237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8" y="1628800"/>
            <a:ext cx="8407893" cy="4407408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400" b="1" dirty="0">
                <a:solidFill>
                  <a:schemeClr val="tx1"/>
                </a:solidFill>
              </a:rPr>
              <a:t>Ограничения: </a:t>
            </a:r>
            <a:endParaRPr lang="ru-RU" sz="24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400" dirty="0">
                <a:solidFill>
                  <a:schemeClr val="tx1"/>
                </a:solidFill>
              </a:rPr>
              <a:t>• необходимо перевести в автономный режим (</a:t>
            </a:r>
            <a:r>
              <a:rPr lang="ru-RU" sz="2400" dirty="0" err="1">
                <a:solidFill>
                  <a:schemeClr val="tx1"/>
                </a:solidFill>
              </a:rPr>
              <a:t>offline</a:t>
            </a:r>
            <a:r>
              <a:rPr lang="ru-RU" sz="2400" dirty="0">
                <a:solidFill>
                  <a:schemeClr val="tx1"/>
                </a:solidFill>
              </a:rPr>
              <a:t>) тот файл или файловую группу, восстановление которого вы производите. Остальные файлы или файловые группы могут оставаться в рабочем режиме. </a:t>
            </a:r>
          </a:p>
          <a:p>
            <a:pPr marL="45720" indent="0" algn="just">
              <a:buNone/>
            </a:pPr>
            <a:r>
              <a:rPr lang="ru-RU" sz="2400" dirty="0">
                <a:solidFill>
                  <a:schemeClr val="tx1"/>
                </a:solidFill>
              </a:rPr>
              <a:t>• резервное копирование на работающей БД может использоваться только для БД, которые работают в режиме восстановления </a:t>
            </a:r>
            <a:r>
              <a:rPr lang="ru-RU" sz="2400" dirty="0" err="1">
                <a:solidFill>
                  <a:schemeClr val="tx1"/>
                </a:solidFill>
              </a:rPr>
              <a:t>full</a:t>
            </a:r>
            <a:r>
              <a:rPr lang="ru-RU" sz="2400" dirty="0">
                <a:solidFill>
                  <a:schemeClr val="tx1"/>
                </a:solidFill>
              </a:rPr>
              <a:t> или </a:t>
            </a:r>
            <a:r>
              <a:rPr lang="ru-RU" sz="2400" dirty="0" err="1">
                <a:solidFill>
                  <a:schemeClr val="tx1"/>
                </a:solidFill>
              </a:rPr>
              <a:t>bulk-logged</a:t>
            </a:r>
            <a:r>
              <a:rPr lang="ru-RU" sz="2400" dirty="0">
                <a:solidFill>
                  <a:schemeClr val="tx1"/>
                </a:solidFill>
              </a:rPr>
              <a:t>; </a:t>
            </a:r>
          </a:p>
          <a:p>
            <a:pPr marL="45720" indent="0" algn="just">
              <a:buNone/>
            </a:pPr>
            <a:r>
              <a:rPr lang="ru-RU" sz="2400" dirty="0">
                <a:solidFill>
                  <a:schemeClr val="tx1"/>
                </a:solidFill>
              </a:rPr>
              <a:t>• оперативное восстановление первого файла БД или первичной файловой группы (в которых находятся системные таблицы и карта размещения данных) производить нельзя.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Восстановление базы данных в оперативном режиме (</a:t>
            </a:r>
            <a:r>
              <a:rPr lang="ru-RU" b="1" dirty="0" err="1"/>
              <a:t>online</a:t>
            </a:r>
            <a:r>
              <a:rPr lang="ru-RU" b="1" dirty="0"/>
              <a:t>)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565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06119" y="1919888"/>
            <a:ext cx="8407893" cy="4407408"/>
          </a:xfrm>
        </p:spPr>
        <p:txBody>
          <a:bodyPr>
            <a:noAutofit/>
          </a:bodyPr>
          <a:lstStyle/>
          <a:p>
            <a:pPr algn="just"/>
            <a:r>
              <a:rPr lang="ru-RU" sz="2700" dirty="0">
                <a:solidFill>
                  <a:schemeClr val="tx1"/>
                </a:solidFill>
              </a:rPr>
              <a:t>Еще одна новая возможность SQL </a:t>
            </a:r>
            <a:r>
              <a:rPr lang="ru-RU" sz="2700" dirty="0" err="1">
                <a:solidFill>
                  <a:schemeClr val="tx1"/>
                </a:solidFill>
              </a:rPr>
              <a:t>Server</a:t>
            </a:r>
            <a:r>
              <a:rPr lang="ru-RU" sz="2700" dirty="0">
                <a:solidFill>
                  <a:schemeClr val="tx1"/>
                </a:solidFill>
              </a:rPr>
              <a:t> 2012 — возможность </a:t>
            </a:r>
            <a:r>
              <a:rPr lang="ru-RU" sz="2700" i="1" dirty="0">
                <a:solidFill>
                  <a:schemeClr val="tx1"/>
                </a:solidFill>
              </a:rPr>
              <a:t>восстановления отдельных страниц данных </a:t>
            </a:r>
            <a:r>
              <a:rPr lang="ru-RU" sz="2700" dirty="0">
                <a:solidFill>
                  <a:schemeClr val="tx1"/>
                </a:solidFill>
              </a:rPr>
              <a:t>(</a:t>
            </a:r>
            <a:r>
              <a:rPr lang="ru-RU" sz="2700" dirty="0" err="1">
                <a:solidFill>
                  <a:schemeClr val="tx1"/>
                </a:solidFill>
              </a:rPr>
              <a:t>page</a:t>
            </a:r>
            <a:r>
              <a:rPr lang="ru-RU" sz="2700" dirty="0">
                <a:solidFill>
                  <a:schemeClr val="tx1"/>
                </a:solidFill>
              </a:rPr>
              <a:t> </a:t>
            </a:r>
            <a:r>
              <a:rPr lang="ru-RU" sz="2700" dirty="0" err="1">
                <a:solidFill>
                  <a:schemeClr val="tx1"/>
                </a:solidFill>
              </a:rPr>
              <a:t>restore</a:t>
            </a:r>
            <a:r>
              <a:rPr lang="ru-RU" sz="2700" dirty="0">
                <a:solidFill>
                  <a:schemeClr val="tx1"/>
                </a:solidFill>
              </a:rPr>
              <a:t>). </a:t>
            </a:r>
          </a:p>
          <a:p>
            <a:pPr algn="just"/>
            <a:r>
              <a:rPr lang="ru-RU" sz="2700" dirty="0">
                <a:solidFill>
                  <a:schemeClr val="tx1"/>
                </a:solidFill>
              </a:rPr>
              <a:t>По умолчанию восстановление запускается в оперативном режиме, без отключения пользователей от базы данных. </a:t>
            </a:r>
          </a:p>
          <a:p>
            <a:pPr algn="just"/>
            <a:r>
              <a:rPr lang="ru-RU" sz="2700" dirty="0">
                <a:solidFill>
                  <a:schemeClr val="tx1"/>
                </a:solidFill>
              </a:rPr>
              <a:t>Больше 1000 поврежденных страниц восстанавливать нельзя.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Восстановление отдельных страниц базы данных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178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81000" y="1719070"/>
            <a:ext cx="8407892" cy="4636009"/>
          </a:xfrm>
        </p:spPr>
        <p:txBody>
          <a:bodyPr>
            <a:noAutofit/>
          </a:bodyPr>
          <a:lstStyle/>
          <a:p>
            <a:pPr marL="45720" indent="0" algn="ctr">
              <a:buNone/>
            </a:pPr>
            <a:r>
              <a:rPr lang="ru-RU" sz="2500" b="1" dirty="0">
                <a:solidFill>
                  <a:schemeClr val="tx1"/>
                </a:solidFill>
              </a:rPr>
              <a:t>Ограничения: </a:t>
            </a:r>
            <a:endParaRPr lang="ru-RU" sz="25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•используется редакция </a:t>
            </a:r>
            <a:r>
              <a:rPr lang="en-US" sz="2500" dirty="0">
                <a:solidFill>
                  <a:schemeClr val="tx1"/>
                </a:solidFill>
              </a:rPr>
              <a:t>Enterprise Edition; </a:t>
            </a: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•восстанавливаемые страницы не относятся к журналу транзакций, к служебным страницам базы данных и полнотекстовым каталогам; </a:t>
            </a: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•база данных работает в режиме </a:t>
            </a:r>
            <a:r>
              <a:rPr lang="ru-RU" sz="2500" dirty="0" err="1">
                <a:solidFill>
                  <a:schemeClr val="tx1"/>
                </a:solidFill>
              </a:rPr>
              <a:t>full</a:t>
            </a:r>
            <a:r>
              <a:rPr lang="ru-RU" sz="2500" dirty="0">
                <a:solidFill>
                  <a:schemeClr val="tx1"/>
                </a:solidFill>
              </a:rPr>
              <a:t> или </a:t>
            </a:r>
            <a:r>
              <a:rPr lang="ru-RU" sz="2500" dirty="0" err="1">
                <a:solidFill>
                  <a:schemeClr val="tx1"/>
                </a:solidFill>
              </a:rPr>
              <a:t>bulk-logged</a:t>
            </a:r>
            <a:r>
              <a:rPr lang="ru-RU" sz="2500" dirty="0">
                <a:solidFill>
                  <a:schemeClr val="tx1"/>
                </a:solidFill>
              </a:rPr>
              <a:t>; </a:t>
            </a: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•файловые группы, к которым относятся восстанавливаемые страницы, доступны и на чтение, и на запись.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Восстановление отдельных страниц базы данных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79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1628800"/>
            <a:ext cx="8537372" cy="4407408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400" b="1" dirty="0">
                <a:solidFill>
                  <a:schemeClr val="tx1"/>
                </a:solidFill>
              </a:rPr>
              <a:t>Порядок действий при восстановлении отдельных страниц: </a:t>
            </a:r>
            <a:endParaRPr lang="ru-RU" sz="24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400" dirty="0">
                <a:solidFill>
                  <a:schemeClr val="tx1"/>
                </a:solidFill>
              </a:rPr>
              <a:t>1. Обнаружение наличия поврежденных страниц - при просмотре журналов событий SQL </a:t>
            </a:r>
            <a:r>
              <a:rPr lang="ru-RU" sz="2400" dirty="0" err="1">
                <a:solidFill>
                  <a:schemeClr val="tx1"/>
                </a:solidFill>
              </a:rPr>
              <a:t>Server</a:t>
            </a:r>
            <a:r>
              <a:rPr lang="ru-RU" sz="2400" dirty="0">
                <a:solidFill>
                  <a:schemeClr val="tx1"/>
                </a:solidFill>
              </a:rPr>
              <a:t> или при помощи команд DBCC (например, DBCC CHECKDB). Сам SQL </a:t>
            </a:r>
            <a:r>
              <a:rPr lang="ru-RU" sz="2400" dirty="0" err="1">
                <a:solidFill>
                  <a:schemeClr val="tx1"/>
                </a:solidFill>
              </a:rPr>
              <a:t>Server</a:t>
            </a:r>
            <a:r>
              <a:rPr lang="ru-RU" sz="2400" dirty="0">
                <a:solidFill>
                  <a:schemeClr val="tx1"/>
                </a:solidFill>
              </a:rPr>
              <a:t> выявляет поврежденные страницы при помощи анализа контрольных сумм или контрольных бит. </a:t>
            </a:r>
          </a:p>
          <a:p>
            <a:pPr marL="45720" indent="0" algn="just">
              <a:buNone/>
            </a:pPr>
            <a:r>
              <a:rPr lang="ru-RU" sz="2400" dirty="0">
                <a:solidFill>
                  <a:schemeClr val="tx1"/>
                </a:solidFill>
              </a:rPr>
              <a:t>2. Получение информации о номерах поврежденных страниц и номерах файлов, в которых эти страницы находятся. Эта информация хранится в таблице </a:t>
            </a:r>
            <a:r>
              <a:rPr lang="ru-RU" sz="2400" dirty="0" err="1">
                <a:solidFill>
                  <a:schemeClr val="tx1"/>
                </a:solidFill>
              </a:rPr>
              <a:t>suspect_pages</a:t>
            </a:r>
            <a:r>
              <a:rPr lang="ru-RU" sz="2400" dirty="0">
                <a:solidFill>
                  <a:schemeClr val="tx1"/>
                </a:solidFill>
              </a:rPr>
              <a:t> базы данных MSDB (столбец </a:t>
            </a:r>
            <a:r>
              <a:rPr lang="ru-RU" sz="2400" dirty="0" err="1">
                <a:solidFill>
                  <a:schemeClr val="tx1"/>
                </a:solidFill>
              </a:rPr>
              <a:t>page_id</a:t>
            </a:r>
            <a:r>
              <a:rPr lang="ru-RU" sz="2400" dirty="0">
                <a:solidFill>
                  <a:schemeClr val="tx1"/>
                </a:solidFill>
              </a:rPr>
              <a:t> - номера страниц; столбец </a:t>
            </a:r>
            <a:r>
              <a:rPr lang="ru-RU" sz="2400" dirty="0" err="1">
                <a:solidFill>
                  <a:schemeClr val="tx1"/>
                </a:solidFill>
              </a:rPr>
              <a:t>file_id</a:t>
            </a:r>
            <a:r>
              <a:rPr lang="ru-RU" sz="2400" dirty="0">
                <a:solidFill>
                  <a:schemeClr val="tx1"/>
                </a:solidFill>
              </a:rPr>
              <a:t> - номера файлов). </a:t>
            </a:r>
          </a:p>
          <a:p>
            <a:pPr marL="45720" indent="0" algn="just">
              <a:buNone/>
            </a:pP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Восстановление отдельных страниц базы данных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954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1628800"/>
            <a:ext cx="8537372" cy="4407408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800" dirty="0">
                <a:solidFill>
                  <a:schemeClr val="tx1"/>
                </a:solidFill>
              </a:rPr>
              <a:t>3. Запуск команды на восстановление базы данных: </a:t>
            </a:r>
          </a:p>
          <a:p>
            <a:pPr marL="45720" indent="0" algn="just">
              <a:buNone/>
            </a:pPr>
            <a:endParaRPr lang="ru-RU" sz="2800" b="1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RESTORE DATABASE db1 </a:t>
            </a:r>
            <a:endParaRPr lang="ru-RU" sz="2800" b="1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PAGE='1:51, 1:52, 1:55‘</a:t>
            </a:r>
            <a:endParaRPr lang="ru-RU" sz="2800" b="1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DISK='D:\</a:t>
            </a:r>
            <a:r>
              <a:rPr lang="en-US" sz="2800" b="1" dirty="0" err="1">
                <a:solidFill>
                  <a:schemeClr val="tx1"/>
                </a:solidFill>
              </a:rPr>
              <a:t>SQLBackups</a:t>
            </a:r>
            <a:r>
              <a:rPr lang="en-US" sz="2800" b="1" dirty="0">
                <a:solidFill>
                  <a:schemeClr val="tx1"/>
                </a:solidFill>
              </a:rPr>
              <a:t>\BackupFile1.bak'</a:t>
            </a:r>
            <a:r>
              <a:rPr lang="en-US" sz="2800" dirty="0">
                <a:solidFill>
                  <a:schemeClr val="tx1"/>
                </a:solidFill>
              </a:rPr>
              <a:t>;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Восстановление отдельных страниц базы данных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62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7504" y="1719070"/>
            <a:ext cx="8928991" cy="4878282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ru-RU" sz="2800" dirty="0">
                <a:solidFill>
                  <a:schemeClr val="tx1"/>
                </a:solidFill>
              </a:rPr>
              <a:t>Повреждение базы данных </a:t>
            </a:r>
            <a:r>
              <a:rPr lang="ru-RU" sz="2800" dirty="0" err="1">
                <a:solidFill>
                  <a:schemeClr val="tx1"/>
                </a:solidFill>
              </a:rPr>
              <a:t>master</a:t>
            </a:r>
            <a:r>
              <a:rPr lang="ru-RU" sz="2800" dirty="0">
                <a:solidFill>
                  <a:schemeClr val="tx1"/>
                </a:solidFill>
              </a:rPr>
              <a:t> проявляется разными неполадками, включая следующие:</a:t>
            </a:r>
          </a:p>
          <a:p>
            <a:pPr algn="just"/>
            <a:r>
              <a:rPr lang="ru-RU" sz="2800" dirty="0">
                <a:solidFill>
                  <a:schemeClr val="tx1"/>
                </a:solidFill>
              </a:rPr>
              <a:t> невозможность запустить процесс </a:t>
            </a:r>
            <a:r>
              <a:rPr lang="en-US" sz="2800" dirty="0">
                <a:solidFill>
                  <a:schemeClr val="tx1"/>
                </a:solidFill>
              </a:rPr>
              <a:t>MSSQLSERVER;</a:t>
            </a:r>
          </a:p>
          <a:p>
            <a:pPr algn="just"/>
            <a:r>
              <a:rPr lang="ru-RU" sz="2800" dirty="0">
                <a:solidFill>
                  <a:schemeClr val="tx1"/>
                </a:solidFill>
              </a:rPr>
              <a:t> ошибки ввода/вывода;</a:t>
            </a:r>
          </a:p>
          <a:p>
            <a:pPr algn="just"/>
            <a:r>
              <a:rPr lang="ru-RU" sz="2800" dirty="0">
                <a:solidFill>
                  <a:schemeClr val="tx1"/>
                </a:solidFill>
              </a:rPr>
              <a:t> выполнение команды DBCC указывает на такое повреждение.</a:t>
            </a:r>
          </a:p>
          <a:p>
            <a:pPr marL="45720" indent="0" algn="just">
              <a:buNone/>
            </a:pPr>
            <a:r>
              <a:rPr lang="ru-RU" sz="2800" dirty="0">
                <a:solidFill>
                  <a:schemeClr val="tx1"/>
                </a:solidFill>
              </a:rPr>
              <a:t>Процесс восстановления системной базы данных </a:t>
            </a:r>
            <a:r>
              <a:rPr lang="ru-RU" sz="2800" dirty="0" err="1">
                <a:solidFill>
                  <a:schemeClr val="tx1"/>
                </a:solidFill>
              </a:rPr>
              <a:t>master</a:t>
            </a:r>
            <a:r>
              <a:rPr lang="ru-RU" sz="2800" dirty="0">
                <a:solidFill>
                  <a:schemeClr val="tx1"/>
                </a:solidFill>
              </a:rPr>
              <a:t> существенно отличается от восстановления пользовательских баз данных.</a:t>
            </a:r>
            <a:endParaRPr lang="ru-RU" sz="25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Восстановление системных баз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38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95195" y="1719070"/>
            <a:ext cx="8381261" cy="4878282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ru-RU" sz="2800" dirty="0">
                <a:solidFill>
                  <a:schemeClr val="tx1"/>
                </a:solidFill>
              </a:rPr>
              <a:t>•  Для базы данных </a:t>
            </a:r>
            <a:r>
              <a:rPr lang="ru-RU" sz="2800" dirty="0" err="1">
                <a:solidFill>
                  <a:schemeClr val="tx1"/>
                </a:solidFill>
              </a:rPr>
              <a:t>Master</a:t>
            </a:r>
            <a:r>
              <a:rPr lang="ru-RU" sz="2800" dirty="0">
                <a:solidFill>
                  <a:schemeClr val="tx1"/>
                </a:solidFill>
              </a:rPr>
              <a:t> доступен только один тип резервного копирования: </a:t>
            </a:r>
            <a:r>
              <a:rPr lang="ru-RU" sz="2800" b="1" dirty="0">
                <a:solidFill>
                  <a:schemeClr val="tx1"/>
                </a:solidFill>
              </a:rPr>
              <a:t>полное резервное копирование всей базы данных</a:t>
            </a:r>
            <a:r>
              <a:rPr lang="ru-RU" sz="2800" dirty="0">
                <a:solidFill>
                  <a:schemeClr val="tx1"/>
                </a:solidFill>
              </a:rPr>
              <a:t>.; </a:t>
            </a:r>
          </a:p>
          <a:p>
            <a:pPr marL="45720" indent="0" algn="just">
              <a:buNone/>
            </a:pPr>
            <a:r>
              <a:rPr lang="ru-RU" sz="2800" dirty="0">
                <a:solidFill>
                  <a:schemeClr val="tx1"/>
                </a:solidFill>
              </a:rPr>
              <a:t>• После восстановления базы данных </a:t>
            </a:r>
            <a:r>
              <a:rPr lang="ru-RU" sz="2800" dirty="0" err="1">
                <a:solidFill>
                  <a:schemeClr val="tx1"/>
                </a:solidFill>
              </a:rPr>
              <a:t>Master</a:t>
            </a:r>
            <a:r>
              <a:rPr lang="ru-RU" sz="2800" dirty="0">
                <a:solidFill>
                  <a:schemeClr val="tx1"/>
                </a:solidFill>
              </a:rPr>
              <a:t> сервер автоматически перезагружается; </a:t>
            </a:r>
          </a:p>
          <a:p>
            <a:pPr marL="45720" indent="0" algn="just">
              <a:buNone/>
            </a:pPr>
            <a:r>
              <a:rPr lang="ru-RU" sz="2800" dirty="0">
                <a:solidFill>
                  <a:schemeClr val="tx1"/>
                </a:solidFill>
              </a:rPr>
              <a:t>• После перестроения базы данных </a:t>
            </a:r>
            <a:r>
              <a:rPr lang="ru-RU" sz="2800" dirty="0" err="1">
                <a:solidFill>
                  <a:schemeClr val="tx1"/>
                </a:solidFill>
              </a:rPr>
              <a:t>Master</a:t>
            </a:r>
            <a:r>
              <a:rPr lang="ru-RU" sz="2800" dirty="0">
                <a:solidFill>
                  <a:schemeClr val="tx1"/>
                </a:solidFill>
              </a:rPr>
              <a:t>, необходимо восстановить базы данных </a:t>
            </a:r>
            <a:r>
              <a:rPr lang="ru-RU" sz="2800" dirty="0" err="1">
                <a:solidFill>
                  <a:schemeClr val="tx1"/>
                </a:solidFill>
              </a:rPr>
              <a:t>Model</a:t>
            </a:r>
            <a:r>
              <a:rPr lang="ru-RU" sz="2800" dirty="0">
                <a:solidFill>
                  <a:schemeClr val="tx1"/>
                </a:solidFill>
              </a:rPr>
              <a:t> и </a:t>
            </a:r>
            <a:r>
              <a:rPr lang="ru-RU" sz="2800" dirty="0" err="1">
                <a:solidFill>
                  <a:schemeClr val="tx1"/>
                </a:solidFill>
              </a:rPr>
              <a:t>Msdb</a:t>
            </a:r>
            <a:r>
              <a:rPr lang="ru-RU" sz="2800" dirty="0">
                <a:solidFill>
                  <a:schemeClr val="tx1"/>
                </a:solidFill>
              </a:rPr>
              <a:t>. </a:t>
            </a:r>
          </a:p>
          <a:p>
            <a:pPr algn="just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Восстановление системных баз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566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3528" y="1895921"/>
            <a:ext cx="848602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ru-RU" sz="2600" dirty="0"/>
              <a:t>Язык </a:t>
            </a:r>
            <a:r>
              <a:rPr lang="en-US" sz="2600" dirty="0"/>
              <a:t>Transact-SQL </a:t>
            </a:r>
            <a:r>
              <a:rPr lang="ru-RU" sz="2600" dirty="0"/>
              <a:t>поддерживает команды </a:t>
            </a:r>
            <a:r>
              <a:rPr lang="en-US" sz="2600" b="1" dirty="0"/>
              <a:t>DBCC</a:t>
            </a:r>
            <a:r>
              <a:rPr lang="en-US" sz="2600" dirty="0"/>
              <a:t> (Database Console Commands,</a:t>
            </a:r>
            <a:r>
              <a:rPr lang="ru-RU" sz="2600" dirty="0"/>
              <a:t>  консольные команды базы данных</a:t>
            </a:r>
            <a:r>
              <a:rPr lang="en-US" sz="2600" dirty="0"/>
              <a:t>)</a:t>
            </a:r>
            <a:r>
              <a:rPr lang="ru-RU" sz="2600" dirty="0"/>
              <a:t>.</a:t>
            </a:r>
          </a:p>
          <a:p>
            <a:pPr algn="just"/>
            <a:r>
              <a:rPr lang="ru-RU" sz="2600" dirty="0"/>
              <a:t>В зависимости от применяемых параметров, команды DBCC можно сгруппировать по следующим категориям: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600" dirty="0"/>
              <a:t> обслуживаемые;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600" dirty="0"/>
              <a:t> информационные;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600" dirty="0"/>
              <a:t> проверочные;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600" dirty="0"/>
              <a:t> смешанные.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b="1" dirty="0"/>
              <a:t>Утилиты </a:t>
            </a:r>
            <a:r>
              <a:rPr lang="en-US" b="1" dirty="0"/>
              <a:t>MS SQL 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2053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810464"/>
            <a:ext cx="8712968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300" dirty="0"/>
              <a:t>Команды проверки осуществляют проверку согласованности БД.  В эту группу входят следующие команды: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300" dirty="0"/>
              <a:t>DBCC CHECKALLOC;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300" dirty="0"/>
              <a:t>DBCC CHECKTABLE;</a:t>
            </a:r>
            <a:endParaRPr lang="ru-RU" sz="23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300" dirty="0"/>
              <a:t>DBCC CHECKCATALOG;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300" dirty="0"/>
              <a:t>DBCC CHECKDB.</a:t>
            </a:r>
            <a:endParaRPr lang="ru-RU" sz="2300" dirty="0"/>
          </a:p>
          <a:p>
            <a:pPr algn="just"/>
            <a:r>
              <a:rPr lang="ru-RU" sz="2300" dirty="0"/>
              <a:t>Все команды DBCC для проверки целостности системы используют технологию </a:t>
            </a:r>
            <a:r>
              <a:rPr lang="ru-RU" sz="2300" b="1" dirty="0" err="1"/>
              <a:t>snapshot</a:t>
            </a:r>
            <a:r>
              <a:rPr lang="ru-RU" sz="2300" dirty="0"/>
              <a:t> для обеспечения согласованности транзакций. </a:t>
            </a:r>
          </a:p>
          <a:p>
            <a:pPr algn="just"/>
            <a:r>
              <a:rPr lang="ru-RU" sz="2300" dirty="0"/>
              <a:t>Т.е. операции проверки не пресекаются с текущими операциями базы данных, поскольку они используют версии текущих строк.</a:t>
            </a:r>
            <a:endParaRPr lang="en-US" sz="2300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b="1" dirty="0"/>
              <a:t>Утилиты </a:t>
            </a:r>
            <a:r>
              <a:rPr lang="en-US" b="1" dirty="0"/>
              <a:t>MS SQL 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73578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26661" y="1722288"/>
            <a:ext cx="852180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Команда </a:t>
            </a:r>
            <a:r>
              <a:rPr lang="ru-RU" sz="2000" b="1" dirty="0"/>
              <a:t>DBCC CHECKALLOC </a:t>
            </a:r>
            <a:r>
              <a:rPr lang="ru-RU" sz="2000" dirty="0"/>
              <a:t>проверяет выделение памяти для каждого указанного системой экстента, а также существует ли выделенные экстенты, которые не отмечены системой.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Команда </a:t>
            </a:r>
            <a:r>
              <a:rPr lang="ru-RU" sz="2000" b="1" dirty="0"/>
              <a:t>DBCC CHECKTABLE</a:t>
            </a:r>
            <a:r>
              <a:rPr lang="ru-RU" sz="2000" dirty="0"/>
              <a:t> проверяет целостность всех страниц и структур, составляющих таблицу или индексируемое представление.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Проверки выполняются как на физическую, так и на логическую целостность. 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Проверки на физическую целостность контролируют целостность физической структуры диска. </a:t>
            </a:r>
            <a:endParaRPr lang="ru-RU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При запуске этой команды с параметром </a:t>
            </a:r>
            <a:r>
              <a:rPr lang="ru-RU" sz="2000" b="1" dirty="0"/>
              <a:t>PHYSICAL_ONLY</a:t>
            </a:r>
            <a:r>
              <a:rPr lang="ru-RU" sz="2000" dirty="0"/>
              <a:t> выполняется проверка </a:t>
            </a:r>
            <a:r>
              <a:rPr lang="ru-RU" sz="2000" b="1" dirty="0"/>
              <a:t>только физической структуры страницы</a:t>
            </a:r>
            <a:r>
              <a:rPr lang="ru-RU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000" dirty="0"/>
              <a:t>Задание этого параметра сокращает время выполнения команды и поэтому рекомендуется в случаях частого ее использования на рабочих системах.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b="1" dirty="0"/>
              <a:t>Утилиты </a:t>
            </a:r>
            <a:r>
              <a:rPr lang="en-US" b="1" dirty="0"/>
              <a:t>MS SQL 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9603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3528" y="1623566"/>
            <a:ext cx="828092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800" dirty="0"/>
              <a:t>Команда </a:t>
            </a:r>
            <a:r>
              <a:rPr lang="ru-RU" sz="2800" b="1" dirty="0"/>
              <a:t>DBCC CHECKCATALOG</a:t>
            </a:r>
            <a:r>
              <a:rPr lang="ru-RU" sz="2800" dirty="0"/>
              <a:t> проверяет согласованность каталога в указанной БД. Для этого выполняется множество перекрестных проверок между таблицами и системным каталогом.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800" dirty="0"/>
              <a:t>После завершения работы команды DBCC CATALO</a:t>
            </a:r>
            <a:r>
              <a:rPr lang="en-US" sz="2800" dirty="0"/>
              <a:t>G</a:t>
            </a:r>
            <a:r>
              <a:rPr lang="ru-RU" sz="2800" dirty="0"/>
              <a:t> в журнале ошибок делается соответствующая запись.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2800" dirty="0"/>
              <a:t>Команда DBCC CHECKDB применяется для проверки физической и логической целостности всех объектов в указанной базе данных.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b="1" dirty="0"/>
              <a:t>Утилиты </a:t>
            </a:r>
            <a:r>
              <a:rPr lang="en-US" b="1" dirty="0"/>
              <a:t>MS SQL 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18123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Восстановление базы данных </a:t>
            </a:r>
            <a:r>
              <a:rPr lang="en-US" b="1" dirty="0"/>
              <a:t>master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dirty="0">
                <a:solidFill>
                  <a:schemeClr val="tx1"/>
                </a:solidFill>
              </a:rPr>
              <a:t>Если БД </a:t>
            </a:r>
            <a:r>
              <a:rPr lang="ru-RU" sz="2400" dirty="0" err="1">
                <a:solidFill>
                  <a:schemeClr val="tx1"/>
                </a:solidFill>
              </a:rPr>
              <a:t>Master</a:t>
            </a:r>
            <a:r>
              <a:rPr lang="ru-RU" sz="2400" dirty="0">
                <a:solidFill>
                  <a:schemeClr val="tx1"/>
                </a:solidFill>
              </a:rPr>
              <a:t> сильно повреждена, то сервер может не запуститься. В этом случае, необходимо перестроить базу данных </a:t>
            </a:r>
            <a:r>
              <a:rPr lang="ru-RU" sz="2400" dirty="0" err="1">
                <a:solidFill>
                  <a:schemeClr val="tx1"/>
                </a:solidFill>
              </a:rPr>
              <a:t>Master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ru-RU" sz="2400" b="1" dirty="0" smtClean="0">
                <a:solidFill>
                  <a:srgbClr val="FF0000"/>
                </a:solidFill>
              </a:rPr>
              <a:t>В </a:t>
            </a:r>
            <a:r>
              <a:rPr lang="ru-RU" sz="2400" b="1" dirty="0">
                <a:solidFill>
                  <a:srgbClr val="FF0000"/>
                </a:solidFill>
              </a:rPr>
              <a:t>SQL </a:t>
            </a:r>
            <a:r>
              <a:rPr lang="ru-RU" sz="2400" b="1" dirty="0" err="1">
                <a:solidFill>
                  <a:srgbClr val="FF0000"/>
                </a:solidFill>
              </a:rPr>
              <a:t>Server</a:t>
            </a:r>
            <a:r>
              <a:rPr lang="ru-RU" sz="2400" b="1" dirty="0">
                <a:solidFill>
                  <a:srgbClr val="FF0000"/>
                </a:solidFill>
              </a:rPr>
              <a:t> 2012 для этой цели используется программа установки SQL </a:t>
            </a:r>
            <a:r>
              <a:rPr lang="ru-RU" sz="2400" b="1" dirty="0" err="1">
                <a:solidFill>
                  <a:srgbClr val="FF0000"/>
                </a:solidFill>
              </a:rPr>
              <a:t>Server</a:t>
            </a:r>
            <a:r>
              <a:rPr lang="ru-RU" sz="2400" b="1" dirty="0">
                <a:solidFill>
                  <a:srgbClr val="FF0000"/>
                </a:solidFill>
              </a:rPr>
              <a:t>;</a:t>
            </a:r>
          </a:p>
          <a:p>
            <a:pPr algn="just"/>
            <a:r>
              <a:rPr lang="ru-RU" sz="2400" dirty="0">
                <a:solidFill>
                  <a:schemeClr val="tx1"/>
                </a:solidFill>
              </a:rPr>
              <a:t>БД </a:t>
            </a:r>
            <a:r>
              <a:rPr lang="ru-RU" sz="2400" b="1" dirty="0" err="1">
                <a:solidFill>
                  <a:schemeClr val="tx1"/>
                </a:solidFill>
              </a:rPr>
              <a:t>master</a:t>
            </a:r>
            <a:r>
              <a:rPr lang="ru-RU" sz="2400" dirty="0">
                <a:solidFill>
                  <a:schemeClr val="tx1"/>
                </a:solidFill>
              </a:rPr>
              <a:t> является главной системной базой, восстановить ее обычным способом нельзя. </a:t>
            </a: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ru-RU" sz="2400" dirty="0">
                <a:solidFill>
                  <a:schemeClr val="tx1"/>
                </a:solidFill>
              </a:rPr>
              <a:t>Восстановление БД невозможно на сервере более поздней версии, чем сервер, на котором была сделана резервная копия. </a:t>
            </a:r>
          </a:p>
          <a:p>
            <a:pPr algn="just"/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420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3588" y="1719070"/>
            <a:ext cx="8788892" cy="4590249"/>
          </a:xfrm>
        </p:spPr>
        <p:txBody>
          <a:bodyPr>
            <a:normAutofit/>
          </a:bodyPr>
          <a:lstStyle/>
          <a:p>
            <a:pPr lvl="0" algn="just" fontAlgn="t"/>
            <a:r>
              <a:rPr lang="ru-RU" dirty="0">
                <a:solidFill>
                  <a:schemeClr val="tx1"/>
                </a:solidFill>
              </a:rPr>
              <a:t>Запустите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 в однопользовательском администраторском режиме.</a:t>
            </a:r>
          </a:p>
          <a:p>
            <a:pPr algn="just" fontAlgn="t"/>
            <a:r>
              <a:rPr lang="ru-RU" b="1" dirty="0">
                <a:solidFill>
                  <a:schemeClr val="tx1"/>
                </a:solidFill>
              </a:rPr>
              <a:t>Перейдите в папку </a:t>
            </a:r>
            <a:r>
              <a:rPr lang="ru-RU" b="1" dirty="0" err="1">
                <a:solidFill>
                  <a:schemeClr val="tx1"/>
                </a:solidFill>
              </a:rPr>
              <a:t>binn</a:t>
            </a:r>
            <a:r>
              <a:rPr lang="ru-RU" b="1" dirty="0">
                <a:solidFill>
                  <a:schemeClr val="tx1"/>
                </a:solidFill>
              </a:rPr>
              <a:t> </a:t>
            </a:r>
          </a:p>
          <a:p>
            <a:pPr marL="45720" lvl="0" indent="0" algn="just" fontAlgn="t">
              <a:buNone/>
            </a:pPr>
            <a:r>
              <a:rPr lang="en-US" dirty="0">
                <a:solidFill>
                  <a:schemeClr val="tx1"/>
                </a:solidFill>
              </a:rPr>
              <a:t>cd "\Program Files\ Microsoft SQL Server\MSSQL.1\MSSQL\</a:t>
            </a:r>
            <a:r>
              <a:rPr lang="en-US" dirty="0" err="1">
                <a:solidFill>
                  <a:schemeClr val="tx1"/>
                </a:solidFill>
              </a:rPr>
              <a:t>binn</a:t>
            </a:r>
            <a:r>
              <a:rPr lang="en-US" dirty="0">
                <a:solidFill>
                  <a:schemeClr val="tx1"/>
                </a:solidFill>
              </a:rPr>
              <a:t>"</a:t>
            </a:r>
            <a:endParaRPr lang="ru-RU" dirty="0">
              <a:solidFill>
                <a:schemeClr val="tx1"/>
              </a:solidFill>
            </a:endParaRPr>
          </a:p>
          <a:p>
            <a:pPr marL="45720" lvl="0" indent="0" algn="just" fontAlgn="t">
              <a:buNone/>
            </a:pPr>
            <a:r>
              <a:rPr lang="en-US" b="1" dirty="0">
                <a:solidFill>
                  <a:schemeClr val="tx1"/>
                </a:solidFill>
              </a:rPr>
              <a:t>C:\Program Files\Microsoft SQL Server\MSSQL.1\MSSQL\</a:t>
            </a:r>
            <a:r>
              <a:rPr lang="en-US" b="1" dirty="0" err="1">
                <a:solidFill>
                  <a:schemeClr val="tx1"/>
                </a:solidFill>
              </a:rPr>
              <a:t>Binn</a:t>
            </a:r>
            <a:r>
              <a:rPr lang="en-US" b="1" dirty="0">
                <a:solidFill>
                  <a:schemeClr val="tx1"/>
                </a:solidFill>
              </a:rPr>
              <a:t>&gt;</a:t>
            </a:r>
            <a:r>
              <a:rPr lang="en-US" b="1" dirty="0" err="1">
                <a:solidFill>
                  <a:schemeClr val="tx1"/>
                </a:solidFill>
              </a:rPr>
              <a:t>sqlservr</a:t>
            </a:r>
            <a:r>
              <a:rPr lang="en-US" b="1" dirty="0">
                <a:solidFill>
                  <a:schemeClr val="tx1"/>
                </a:solidFill>
              </a:rPr>
              <a:t> –m</a:t>
            </a:r>
            <a:r>
              <a:rPr lang="ru-RU" b="1" dirty="0">
                <a:solidFill>
                  <a:schemeClr val="tx1"/>
                </a:solidFill>
              </a:rPr>
              <a:t> </a:t>
            </a:r>
          </a:p>
          <a:p>
            <a:pPr lvl="0" algn="just" fontAlgn="t"/>
            <a:r>
              <a:rPr lang="ru-RU" dirty="0">
                <a:solidFill>
                  <a:schemeClr val="tx1"/>
                </a:solidFill>
              </a:rPr>
              <a:t>Не закрывая это окно командной строки, запустите еще один экземпляр командной строки, повторив действия. В этом новом окне командной строки введите, чтобы установить соединение с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pPr marL="45720" lvl="0" indent="0" algn="just" fontAlgn="t">
              <a:buNone/>
            </a:pP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sqlcmd</a:t>
            </a:r>
            <a:r>
              <a:rPr lang="ru-RU" b="1" dirty="0">
                <a:solidFill>
                  <a:schemeClr val="tx1"/>
                </a:solidFill>
              </a:rPr>
              <a:t> -E</a:t>
            </a:r>
          </a:p>
          <a:p>
            <a:pPr marL="45720" lvl="0" indent="0" algn="just" fontAlgn="t"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Восстановление системных баз данных</a:t>
            </a:r>
            <a:endParaRPr lang="ru-RU" dirty="0"/>
          </a:p>
        </p:txBody>
      </p:sp>
      <p:pic>
        <p:nvPicPr>
          <p:cNvPr id="6" name="Рисунок 5" descr="http://www.intuit.ru/EDI/14_08_14_2/1407964674-31059/tutorial/409/objects/5/files/03_07sm.gif">
            <a:hlinkClick r:id="rId3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6" y="1693290"/>
            <a:ext cx="8926307" cy="462354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Овал 4"/>
          <p:cNvSpPr/>
          <p:nvPr/>
        </p:nvSpPr>
        <p:spPr>
          <a:xfrm>
            <a:off x="251520" y="2420888"/>
            <a:ext cx="5544616" cy="1584176"/>
          </a:xfrm>
          <a:prstGeom prst="ellipse">
            <a:avLst/>
          </a:prstGeom>
          <a:noFill/>
          <a:ln w="476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96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animBg="1"/>
      <p:bldP spid="5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300" dirty="0">
                <a:solidFill>
                  <a:schemeClr val="tx1"/>
                </a:solidFill>
              </a:rPr>
              <a:t>В производственных системах необходимо автоматизировать процессы резервного копирования без участия пользователя.</a:t>
            </a:r>
          </a:p>
          <a:p>
            <a:pPr algn="just"/>
            <a:r>
              <a:rPr lang="ru-RU" sz="2300" dirty="0">
                <a:solidFill>
                  <a:schemeClr val="tx1"/>
                </a:solidFill>
              </a:rPr>
              <a:t>В SQL </a:t>
            </a:r>
            <a:r>
              <a:rPr lang="ru-RU" sz="2300" dirty="0" err="1">
                <a:solidFill>
                  <a:schemeClr val="tx1"/>
                </a:solidFill>
              </a:rPr>
              <a:t>Server</a:t>
            </a:r>
            <a:r>
              <a:rPr lang="ru-RU" sz="2300" dirty="0">
                <a:solidFill>
                  <a:schemeClr val="tx1"/>
                </a:solidFill>
              </a:rPr>
              <a:t> есть встроенный планировщик, представляющий собой компонент службы SQL </a:t>
            </a:r>
            <a:r>
              <a:rPr lang="ru-RU" sz="2300" dirty="0" err="1">
                <a:solidFill>
                  <a:schemeClr val="tx1"/>
                </a:solidFill>
              </a:rPr>
              <a:t>Server</a:t>
            </a:r>
            <a:r>
              <a:rPr lang="ru-RU" sz="2300" dirty="0">
                <a:solidFill>
                  <a:schemeClr val="tx1"/>
                </a:solidFill>
              </a:rPr>
              <a:t> </a:t>
            </a:r>
            <a:r>
              <a:rPr lang="ru-RU" sz="2300" dirty="0" err="1">
                <a:solidFill>
                  <a:schemeClr val="tx1"/>
                </a:solidFill>
              </a:rPr>
              <a:t>Agent</a:t>
            </a:r>
            <a:r>
              <a:rPr lang="ru-RU" sz="23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ru-RU" sz="2300" dirty="0">
                <a:solidFill>
                  <a:schemeClr val="tx1"/>
                </a:solidFill>
              </a:rPr>
              <a:t>С помощью заданий SQL </a:t>
            </a:r>
            <a:r>
              <a:rPr lang="ru-RU" sz="2300" dirty="0" err="1">
                <a:solidFill>
                  <a:schemeClr val="tx1"/>
                </a:solidFill>
              </a:rPr>
              <a:t>Server</a:t>
            </a:r>
            <a:r>
              <a:rPr lang="ru-RU" sz="2300" dirty="0">
                <a:solidFill>
                  <a:schemeClr val="tx1"/>
                </a:solidFill>
              </a:rPr>
              <a:t> </a:t>
            </a:r>
            <a:r>
              <a:rPr lang="ru-RU" sz="2300" dirty="0" err="1">
                <a:solidFill>
                  <a:schemeClr val="tx1"/>
                </a:solidFill>
              </a:rPr>
              <a:t>Agent</a:t>
            </a:r>
            <a:r>
              <a:rPr lang="ru-RU" sz="2300" dirty="0">
                <a:solidFill>
                  <a:schemeClr val="tx1"/>
                </a:solidFill>
              </a:rPr>
              <a:t> (агента SQL </a:t>
            </a:r>
            <a:r>
              <a:rPr lang="ru-RU" sz="2300" dirty="0" err="1">
                <a:solidFill>
                  <a:schemeClr val="tx1"/>
                </a:solidFill>
              </a:rPr>
              <a:t>Server</a:t>
            </a:r>
            <a:r>
              <a:rPr lang="ru-RU" sz="2300" dirty="0">
                <a:solidFill>
                  <a:schemeClr val="tx1"/>
                </a:solidFill>
              </a:rPr>
              <a:t>) можно настроить пакеты T-SQL, которые будут выполняться по заданному расписанию.</a:t>
            </a:r>
          </a:p>
          <a:p>
            <a:pPr algn="just"/>
            <a:r>
              <a:rPr lang="ru-RU" sz="2300" dirty="0">
                <a:solidFill>
                  <a:schemeClr val="tx1"/>
                </a:solidFill>
              </a:rPr>
              <a:t> Этот компонент предоставляет функции, необходимые для автоматизации стратегии восстановления.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Автоматизация задач в SQL </a:t>
            </a:r>
            <a:r>
              <a:rPr lang="ru-RU" b="1" dirty="0" err="1"/>
              <a:t>Server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74421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2800" dirty="0">
                <a:solidFill>
                  <a:schemeClr val="tx1"/>
                </a:solidFill>
              </a:rPr>
              <a:t>К компонентам </a:t>
            </a:r>
            <a:r>
              <a:rPr lang="ru-RU" sz="2800" dirty="0" err="1">
                <a:solidFill>
                  <a:schemeClr val="tx1"/>
                </a:solidFill>
              </a:rPr>
              <a:t>Database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Engine</a:t>
            </a:r>
            <a:r>
              <a:rPr lang="ru-RU" sz="2800" dirty="0">
                <a:solidFill>
                  <a:schemeClr val="tx1"/>
                </a:solidFill>
              </a:rPr>
              <a:t>, которые используются в процессах автоматизации,</a:t>
            </a:r>
          </a:p>
          <a:p>
            <a:pPr marL="4572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можно отнести следующие:</a:t>
            </a:r>
          </a:p>
          <a:p>
            <a:r>
              <a:rPr lang="ru-RU" sz="2800" dirty="0">
                <a:solidFill>
                  <a:schemeClr val="tx1"/>
                </a:solidFill>
              </a:rPr>
              <a:t> службу </a:t>
            </a:r>
            <a:r>
              <a:rPr lang="en-US" sz="2800" dirty="0">
                <a:solidFill>
                  <a:schemeClr val="tx1"/>
                </a:solidFill>
              </a:rPr>
              <a:t>SQL Server (MSSQLSERVER);</a:t>
            </a:r>
          </a:p>
          <a:p>
            <a:r>
              <a:rPr lang="ru-RU" sz="2800" dirty="0">
                <a:solidFill>
                  <a:schemeClr val="tx1"/>
                </a:solidFill>
              </a:rPr>
              <a:t> журнал событий приложений </a:t>
            </a:r>
            <a:r>
              <a:rPr lang="en-US" sz="2800" dirty="0">
                <a:solidFill>
                  <a:schemeClr val="tx1"/>
                </a:solidFill>
              </a:rPr>
              <a:t>Windows;</a:t>
            </a:r>
          </a:p>
          <a:p>
            <a:r>
              <a:rPr lang="ru-RU" sz="2800" dirty="0">
                <a:solidFill>
                  <a:schemeClr val="tx1"/>
                </a:solidFill>
              </a:rPr>
              <a:t> службу </a:t>
            </a:r>
            <a:r>
              <a:rPr lang="en-US" sz="2800" dirty="0">
                <a:solidFill>
                  <a:schemeClr val="tx1"/>
                </a:solidFill>
              </a:rPr>
              <a:t>SQL Server Agent.</a:t>
            </a: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Автоматизация задач в SQL </a:t>
            </a:r>
            <a:r>
              <a:rPr lang="ru-RU" b="1" dirty="0" err="1"/>
              <a:t>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478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</a:rPr>
              <a:t>Роль, которую журнал событий приложений </a:t>
            </a:r>
            <a:r>
              <a:rPr lang="ru-RU" sz="2800" dirty="0" err="1">
                <a:solidFill>
                  <a:schemeClr val="tx1"/>
                </a:solidFill>
              </a:rPr>
              <a:t>Windows</a:t>
            </a:r>
            <a:r>
              <a:rPr lang="ru-RU" sz="2800" dirty="0">
                <a:solidFill>
                  <a:schemeClr val="tx1"/>
                </a:solidFill>
              </a:rPr>
              <a:t> играет в процессе автоматизации, состоит в извещении службы SQL </a:t>
            </a:r>
            <a:r>
              <a:rPr lang="ru-RU" sz="2800" dirty="0" err="1">
                <a:solidFill>
                  <a:schemeClr val="tx1"/>
                </a:solidFill>
              </a:rPr>
              <a:t>Server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Agent</a:t>
            </a:r>
            <a:r>
              <a:rPr lang="ru-RU" sz="2800" dirty="0">
                <a:solidFill>
                  <a:schemeClr val="tx1"/>
                </a:solidFill>
              </a:rPr>
              <a:t> о происходящих событиях.</a:t>
            </a:r>
          </a:p>
          <a:p>
            <a:pPr algn="just"/>
            <a:r>
              <a:rPr lang="ru-RU" sz="2800" dirty="0">
                <a:solidFill>
                  <a:schemeClr val="tx1"/>
                </a:solidFill>
              </a:rPr>
              <a:t>Служба SQL </a:t>
            </a:r>
            <a:r>
              <a:rPr lang="ru-RU" sz="2800" dirty="0" err="1">
                <a:solidFill>
                  <a:schemeClr val="tx1"/>
                </a:solidFill>
              </a:rPr>
              <a:t>Server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err="1">
                <a:solidFill>
                  <a:schemeClr val="tx1"/>
                </a:solidFill>
              </a:rPr>
              <a:t>Agent</a:t>
            </a:r>
            <a:r>
              <a:rPr lang="ru-RU" sz="2800" dirty="0">
                <a:solidFill>
                  <a:schemeClr val="tx1"/>
                </a:solidFill>
              </a:rPr>
              <a:t> </a:t>
            </a:r>
            <a:r>
              <a:rPr lang="ru-RU" sz="2800" dirty="0" smtClean="0">
                <a:solidFill>
                  <a:schemeClr val="tx1"/>
                </a:solidFill>
              </a:rPr>
              <a:t>подключается </a:t>
            </a:r>
            <a:r>
              <a:rPr lang="ru-RU" sz="2800" dirty="0">
                <a:solidFill>
                  <a:schemeClr val="tx1"/>
                </a:solidFill>
              </a:rPr>
              <a:t>к журналу событий приложений </a:t>
            </a:r>
            <a:r>
              <a:rPr lang="ru-RU" sz="2800" dirty="0" err="1">
                <a:solidFill>
                  <a:schemeClr val="tx1"/>
                </a:solidFill>
              </a:rPr>
              <a:t>Windows</a:t>
            </a:r>
            <a:r>
              <a:rPr lang="ru-RU" sz="2800" dirty="0">
                <a:solidFill>
                  <a:schemeClr val="tx1"/>
                </a:solidFill>
              </a:rPr>
              <a:t> и к службе MSSQLSERVER.</a:t>
            </a:r>
          </a:p>
          <a:p>
            <a:pPr marL="45720" indent="0" algn="just">
              <a:buNone/>
            </a:pP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Автоматизация задач в SQL </a:t>
            </a:r>
            <a:r>
              <a:rPr lang="ru-RU" b="1" dirty="0" err="1"/>
              <a:t>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993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7184" y="1772816"/>
            <a:ext cx="8788892" cy="4407408"/>
          </a:xfrm>
        </p:spPr>
        <p:txBody>
          <a:bodyPr>
            <a:noAutofit/>
          </a:bodyPr>
          <a:lstStyle/>
          <a:p>
            <a:pPr algn="just"/>
            <a:r>
              <a:rPr lang="ru-RU" sz="2500" dirty="0">
                <a:solidFill>
                  <a:schemeClr val="tx1"/>
                </a:solidFill>
              </a:rPr>
              <a:t>Роль службы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Agent</a:t>
            </a:r>
            <a:r>
              <a:rPr lang="ru-RU" sz="2500" dirty="0">
                <a:solidFill>
                  <a:schemeClr val="tx1"/>
                </a:solidFill>
              </a:rPr>
              <a:t> в процессе автоматизации состоит в выполнении действия после получения извещения от журнала событий приложений </a:t>
            </a:r>
            <a:r>
              <a:rPr lang="ru-RU" sz="2500" dirty="0" err="1">
                <a:solidFill>
                  <a:schemeClr val="tx1"/>
                </a:solidFill>
              </a:rPr>
              <a:t>Windows</a:t>
            </a:r>
            <a:r>
              <a:rPr lang="ru-RU" sz="25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ru-RU" sz="2500" dirty="0">
                <a:solidFill>
                  <a:schemeClr val="tx1"/>
                </a:solidFill>
              </a:rPr>
              <a:t>Выполняемое действие может быть связанным со службой MSSQLSERVER или каким-либо другим приложением</a:t>
            </a:r>
            <a:r>
              <a:rPr lang="ru-RU" sz="25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ru-RU" sz="2500" dirty="0">
                <a:solidFill>
                  <a:schemeClr val="tx1"/>
                </a:solidFill>
              </a:rPr>
              <a:t>Рекомендуется использовать для работы служб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и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Agent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b="1" dirty="0">
                <a:solidFill>
                  <a:schemeClr val="tx1"/>
                </a:solidFill>
              </a:rPr>
              <a:t>одну и ту же учетную запись</a:t>
            </a:r>
            <a:r>
              <a:rPr lang="ru-RU" sz="2500" b="1" dirty="0" smtClean="0">
                <a:solidFill>
                  <a:schemeClr val="tx1"/>
                </a:solidFill>
              </a:rPr>
              <a:t>.</a:t>
            </a:r>
            <a:endParaRPr lang="en-US" sz="2500" b="1" dirty="0">
              <a:solidFill>
                <a:schemeClr val="tx1"/>
              </a:solidFill>
            </a:endParaRPr>
          </a:p>
          <a:p>
            <a:pPr algn="just"/>
            <a:endParaRPr lang="ru-RU" sz="25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Автоматизация задач в SQL </a:t>
            </a:r>
            <a:r>
              <a:rPr lang="ru-RU" b="1" dirty="0" err="1"/>
              <a:t>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733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dirty="0">
                <a:solidFill>
                  <a:schemeClr val="tx1"/>
                </a:solidFill>
              </a:rPr>
              <a:t>Мастер плана обслуживания </a:t>
            </a:r>
            <a:r>
              <a:rPr lang="ru-RU" sz="2400" dirty="0" err="1">
                <a:solidFill>
                  <a:schemeClr val="tx1"/>
                </a:solidFill>
              </a:rPr>
              <a:t>Maintenance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Plan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Wizard</a:t>
            </a:r>
            <a:r>
              <a:rPr lang="ru-RU" sz="2400" dirty="0">
                <a:solidFill>
                  <a:schemeClr val="tx1"/>
                </a:solidFill>
              </a:rPr>
              <a:t> определяет набор основных задач, требуемых для </a:t>
            </a:r>
            <a:r>
              <a:rPr lang="ru-RU" sz="2400" dirty="0" smtClean="0">
                <a:solidFill>
                  <a:schemeClr val="tx1"/>
                </a:solidFill>
              </a:rPr>
              <a:t>поддержания базы </a:t>
            </a:r>
            <a:r>
              <a:rPr lang="ru-RU" sz="2400" dirty="0">
                <a:solidFill>
                  <a:schemeClr val="tx1"/>
                </a:solidFill>
              </a:rPr>
              <a:t>данных в исправном состоянии. </a:t>
            </a:r>
            <a:endParaRPr lang="ru-RU" sz="2400" dirty="0" smtClean="0">
              <a:solidFill>
                <a:schemeClr val="tx1"/>
              </a:solidFill>
            </a:endParaRPr>
          </a:p>
          <a:p>
            <a:pPr algn="just"/>
            <a:r>
              <a:rPr lang="ru-RU" sz="2400" dirty="0" smtClean="0">
                <a:solidFill>
                  <a:schemeClr val="tx1"/>
                </a:solidFill>
              </a:rPr>
              <a:t>Он </a:t>
            </a:r>
            <a:r>
              <a:rPr lang="ru-RU" sz="2400" dirty="0">
                <a:solidFill>
                  <a:schemeClr val="tx1"/>
                </a:solidFill>
              </a:rPr>
              <a:t>обеспечивает качественную работу базы данных, регулярное создание ее резервной копии и отсутствие противоречивости данных.</a:t>
            </a:r>
          </a:p>
          <a:p>
            <a:pPr algn="just"/>
            <a:r>
              <a:rPr lang="ru-RU" sz="2400" dirty="0">
                <a:solidFill>
                  <a:schemeClr val="tx1"/>
                </a:solidFill>
              </a:rPr>
              <a:t>Для создания планов обслуживания необходимо быть членом предопределенной роли сервера </a:t>
            </a:r>
            <a:r>
              <a:rPr lang="en-US" sz="2400" dirty="0">
                <a:solidFill>
                  <a:srgbClr val="C00000"/>
                </a:solidFill>
              </a:rPr>
              <a:t>sysadmin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Мастер плана обслуживания</a:t>
            </a:r>
          </a:p>
        </p:txBody>
      </p:sp>
    </p:spTree>
    <p:extLst>
      <p:ext uri="{BB962C8B-B14F-4D97-AF65-F5344CB8AC3E}">
        <p14:creationId xmlns:p14="http://schemas.microsoft.com/office/powerpoint/2010/main" val="346546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мастер планов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51" y="1628800"/>
            <a:ext cx="8020050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Овал 1"/>
          <p:cNvSpPr/>
          <p:nvPr/>
        </p:nvSpPr>
        <p:spPr>
          <a:xfrm>
            <a:off x="755576" y="3501008"/>
            <a:ext cx="2160240" cy="14401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68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46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 rotWithShape="1">
          <a:blip r:embed="rId2"/>
          <a:srcRect r="16822" b="7692"/>
          <a:stretch/>
        </p:blipFill>
        <p:spPr bwMode="auto">
          <a:xfrm>
            <a:off x="1187624" y="1530058"/>
            <a:ext cx="6689244" cy="50662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b="1" dirty="0"/>
              <a:t>мастер планов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4698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47</a:t>
            </a:fld>
            <a:endParaRPr lang="ru-RU"/>
          </a:p>
        </p:txBody>
      </p:sp>
      <p:pic>
        <p:nvPicPr>
          <p:cNvPr id="5" name="Рисунок 4"/>
          <p:cNvPicPr/>
          <p:nvPr/>
        </p:nvPicPr>
        <p:blipFill rotWithShape="1">
          <a:blip r:embed="rId2"/>
          <a:srcRect l="26925" r="17462" b="5128"/>
          <a:stretch/>
        </p:blipFill>
        <p:spPr bwMode="auto">
          <a:xfrm>
            <a:off x="1187624" y="1359834"/>
            <a:ext cx="6696744" cy="52565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b="1" dirty="0"/>
              <a:t>мастер планов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308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11091" y="1719070"/>
            <a:ext cx="8681389" cy="4734265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Для использования автоматизации административных операций необходимо: </a:t>
            </a:r>
          </a:p>
          <a:p>
            <a:pPr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 чтобы служба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Agent</a:t>
            </a:r>
            <a:r>
              <a:rPr lang="ru-RU" sz="2500" dirty="0">
                <a:solidFill>
                  <a:schemeClr val="tx1"/>
                </a:solidFill>
              </a:rPr>
              <a:t> работала; </a:t>
            </a:r>
          </a:p>
          <a:p>
            <a:pPr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•чтобы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Agent</a:t>
            </a:r>
            <a:r>
              <a:rPr lang="ru-RU" sz="2500" dirty="0">
                <a:solidFill>
                  <a:schemeClr val="tx1"/>
                </a:solidFill>
              </a:rPr>
              <a:t> работал от имени доменной учетной записи (той же, от имени которой работает сам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) и эта доменная учетная запись обладала на компьютере правами локального администратора; </a:t>
            </a:r>
          </a:p>
          <a:p>
            <a:pPr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•чтобы параметры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Agent</a:t>
            </a:r>
            <a:r>
              <a:rPr lang="ru-RU" sz="2500" dirty="0">
                <a:solidFill>
                  <a:schemeClr val="tx1"/>
                </a:solidFill>
              </a:rPr>
              <a:t> соответствовали </a:t>
            </a:r>
            <a:r>
              <a:rPr lang="ru-RU" sz="2500" dirty="0" smtClean="0">
                <a:solidFill>
                  <a:schemeClr val="tx1"/>
                </a:solidFill>
              </a:rPr>
              <a:t>потребностям</a:t>
            </a:r>
            <a:r>
              <a:rPr lang="ru-RU" sz="25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SQL </a:t>
            </a:r>
            <a:r>
              <a:rPr lang="ru-RU" b="1" dirty="0" err="1"/>
              <a:t>Server</a:t>
            </a:r>
            <a:r>
              <a:rPr lang="ru-RU" b="1" dirty="0"/>
              <a:t> </a:t>
            </a:r>
            <a:r>
              <a:rPr lang="ru-RU" b="1" dirty="0" err="1"/>
              <a:t>Agent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65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81000" y="1674447"/>
            <a:ext cx="2750840" cy="4490857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Чтобы параметры, связанные с настройками электронной почты, вступили в силу, службу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Agent</a:t>
            </a:r>
            <a:r>
              <a:rPr lang="ru-RU" dirty="0">
                <a:solidFill>
                  <a:schemeClr val="tx1"/>
                </a:solidFill>
              </a:rPr>
              <a:t> необходимо перезапустить </a:t>
            </a:r>
            <a:r>
              <a:rPr lang="en-US" dirty="0">
                <a:solidFill>
                  <a:schemeClr val="tx1"/>
                </a:solidFill>
              </a:rPr>
              <a:t>.</a:t>
            </a:r>
            <a:r>
              <a:rPr lang="ru-RU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t>49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Параметры настройки SQL </a:t>
            </a:r>
            <a:r>
              <a:rPr lang="ru-RU" b="1" dirty="0" err="1"/>
              <a:t>Server</a:t>
            </a:r>
            <a:r>
              <a:rPr lang="ru-RU" b="1" dirty="0"/>
              <a:t> </a:t>
            </a:r>
            <a:r>
              <a:rPr lang="ru-RU" b="1" dirty="0" err="1"/>
              <a:t>Agent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270" y="1606542"/>
            <a:ext cx="5578995" cy="4885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10458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94540" y="1672262"/>
            <a:ext cx="8407893" cy="4407408"/>
          </a:xfrm>
        </p:spPr>
        <p:txBody>
          <a:bodyPr/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Для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Agent</a:t>
            </a:r>
            <a:r>
              <a:rPr lang="ru-RU" dirty="0">
                <a:solidFill>
                  <a:schemeClr val="tx1"/>
                </a:solidFill>
              </a:rPr>
              <a:t> предусмотрена своя система журналов, при помощи которой можно получить информацию обо всех происходящих с ним событиях. </a:t>
            </a:r>
          </a:p>
          <a:p>
            <a:pPr algn="just"/>
            <a:r>
              <a:rPr lang="ru-RU" dirty="0">
                <a:solidFill>
                  <a:schemeClr val="tx1"/>
                </a:solidFill>
              </a:rPr>
              <a:t>Просмотреть эти журналы можно из контейнера </a:t>
            </a:r>
            <a:r>
              <a:rPr lang="ru-RU" b="1" dirty="0">
                <a:solidFill>
                  <a:schemeClr val="tx1"/>
                </a:solidFill>
              </a:rPr>
              <a:t>SQL </a:t>
            </a:r>
            <a:r>
              <a:rPr lang="ru-RU" b="1" dirty="0" err="1">
                <a:solidFill>
                  <a:schemeClr val="tx1"/>
                </a:solidFill>
              </a:rPr>
              <a:t>Server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Agent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/ </a:t>
            </a:r>
            <a:r>
              <a:rPr lang="ru-RU" b="1" dirty="0" err="1">
                <a:solidFill>
                  <a:schemeClr val="tx1"/>
                </a:solidFill>
              </a:rPr>
              <a:t>Error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Logs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(Журналы ошибок) </a:t>
            </a:r>
            <a:r>
              <a:rPr lang="ru-RU" b="1" dirty="0">
                <a:solidFill>
                  <a:schemeClr val="tx1"/>
                </a:solidFill>
              </a:rPr>
              <a:t>в </a:t>
            </a:r>
            <a:r>
              <a:rPr lang="ru-RU" b="1" dirty="0" err="1">
                <a:solidFill>
                  <a:schemeClr val="tx1"/>
                </a:solidFill>
              </a:rPr>
              <a:t>Management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Studio</a:t>
            </a:r>
            <a:r>
              <a:rPr lang="ru-RU" b="1" dirty="0">
                <a:solidFill>
                  <a:schemeClr val="tx1"/>
                </a:solidFill>
              </a:rPr>
              <a:t>.</a:t>
            </a:r>
          </a:p>
          <a:p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50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SQL </a:t>
            </a:r>
            <a:r>
              <a:rPr lang="ru-RU" b="1" dirty="0" err="1"/>
              <a:t>Server</a:t>
            </a:r>
            <a:r>
              <a:rPr lang="ru-RU" b="1" dirty="0"/>
              <a:t> </a:t>
            </a:r>
            <a:r>
              <a:rPr lang="ru-RU" b="1" dirty="0" err="1"/>
              <a:t>Agent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460324"/>
            <a:ext cx="5351554" cy="314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017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3588" y="1719070"/>
            <a:ext cx="8788892" cy="480627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Основными </a:t>
            </a:r>
            <a:r>
              <a:rPr lang="ru-RU" sz="2400" dirty="0">
                <a:solidFill>
                  <a:schemeClr val="tx1"/>
                </a:solidFill>
              </a:rPr>
              <a:t>объектами SQL </a:t>
            </a:r>
            <a:r>
              <a:rPr lang="ru-RU" sz="2400" dirty="0" err="1">
                <a:solidFill>
                  <a:schemeClr val="tx1"/>
                </a:solidFill>
              </a:rPr>
              <a:t>Server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Agent</a:t>
            </a:r>
            <a:r>
              <a:rPr lang="ru-RU" sz="2400" dirty="0">
                <a:solidFill>
                  <a:schemeClr val="tx1"/>
                </a:solidFill>
              </a:rPr>
              <a:t> являются: </a:t>
            </a:r>
          </a:p>
          <a:p>
            <a:pPr algn="just">
              <a:buNone/>
            </a:pPr>
            <a:r>
              <a:rPr lang="ru-RU" sz="2400" dirty="0">
                <a:solidFill>
                  <a:schemeClr val="tx1"/>
                </a:solidFill>
              </a:rPr>
              <a:t>•</a:t>
            </a:r>
            <a:r>
              <a:rPr lang="ru-RU" sz="2400" b="1" dirty="0">
                <a:solidFill>
                  <a:schemeClr val="tx1"/>
                </a:solidFill>
              </a:rPr>
              <a:t>задания (</a:t>
            </a:r>
            <a:r>
              <a:rPr lang="ru-RU" sz="2400" b="1" dirty="0" err="1">
                <a:solidFill>
                  <a:schemeClr val="tx1"/>
                </a:solidFill>
              </a:rPr>
              <a:t>jobs</a:t>
            </a:r>
            <a:r>
              <a:rPr lang="ru-RU" sz="2400" b="1" dirty="0">
                <a:solidFill>
                  <a:schemeClr val="tx1"/>
                </a:solidFill>
              </a:rPr>
              <a:t>) </a:t>
            </a:r>
            <a:r>
              <a:rPr lang="ru-RU" sz="2400" dirty="0">
                <a:solidFill>
                  <a:schemeClr val="tx1"/>
                </a:solidFill>
              </a:rPr>
              <a:t>— именованные наборы действий, которые можно выполнять по расписанию; </a:t>
            </a:r>
          </a:p>
          <a:p>
            <a:pPr algn="just">
              <a:buNone/>
            </a:pPr>
            <a:r>
              <a:rPr lang="ru-RU" sz="2400" dirty="0">
                <a:solidFill>
                  <a:schemeClr val="tx1"/>
                </a:solidFill>
              </a:rPr>
              <a:t>•</a:t>
            </a:r>
            <a:r>
              <a:rPr lang="ru-RU" sz="2400" b="1" dirty="0">
                <a:solidFill>
                  <a:schemeClr val="tx1"/>
                </a:solidFill>
              </a:rPr>
              <a:t>предупреждения (</a:t>
            </a:r>
            <a:r>
              <a:rPr lang="ru-RU" sz="2400" b="1" dirty="0" err="1">
                <a:solidFill>
                  <a:schemeClr val="tx1"/>
                </a:solidFill>
              </a:rPr>
              <a:t>alerts</a:t>
            </a:r>
            <a:r>
              <a:rPr lang="ru-RU" sz="2400" b="1" dirty="0">
                <a:solidFill>
                  <a:schemeClr val="tx1"/>
                </a:solidFill>
              </a:rPr>
              <a:t>)</a:t>
            </a:r>
            <a:r>
              <a:rPr lang="ru-RU" sz="2400" dirty="0">
                <a:solidFill>
                  <a:schemeClr val="tx1"/>
                </a:solidFill>
              </a:rPr>
              <a:t> — действия, которые выполняются в ответ на </a:t>
            </a:r>
            <a:r>
              <a:rPr lang="ru-RU" sz="2400" dirty="0" smtClean="0">
                <a:solidFill>
                  <a:schemeClr val="tx1"/>
                </a:solidFill>
              </a:rPr>
              <a:t>событие, </a:t>
            </a:r>
            <a:r>
              <a:rPr lang="ru-RU" sz="2400" dirty="0">
                <a:solidFill>
                  <a:schemeClr val="tx1"/>
                </a:solidFill>
              </a:rPr>
              <a:t>происшедшее на SQL </a:t>
            </a:r>
            <a:r>
              <a:rPr lang="ru-RU" sz="2400" dirty="0" err="1">
                <a:solidFill>
                  <a:schemeClr val="tx1"/>
                </a:solidFill>
              </a:rPr>
              <a:t>Server</a:t>
            </a:r>
            <a:r>
              <a:rPr lang="ru-RU" sz="2400" dirty="0" smtClean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(ошибки с определенным </a:t>
            </a:r>
            <a:r>
              <a:rPr lang="ru-RU" sz="2400" dirty="0" smtClean="0">
                <a:solidFill>
                  <a:schemeClr val="tx1"/>
                </a:solidFill>
              </a:rPr>
              <a:t>номером, </a:t>
            </a:r>
            <a:r>
              <a:rPr lang="ru-RU" sz="2400" dirty="0">
                <a:solidFill>
                  <a:schemeClr val="tx1"/>
                </a:solidFill>
              </a:rPr>
              <a:t>либо выход счетчика производительности за определенные границы, </a:t>
            </a:r>
            <a:r>
              <a:rPr lang="ru-RU" sz="2400" dirty="0" smtClean="0">
                <a:solidFill>
                  <a:schemeClr val="tx1"/>
                </a:solidFill>
              </a:rPr>
              <a:t>др.); </a:t>
            </a:r>
          </a:p>
          <a:p>
            <a:pPr algn="just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•</a:t>
            </a:r>
            <a:r>
              <a:rPr lang="ru-RU" sz="2400" b="1" dirty="0">
                <a:solidFill>
                  <a:schemeClr val="tx1"/>
                </a:solidFill>
              </a:rPr>
              <a:t>операторы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(</a:t>
            </a:r>
            <a:r>
              <a:rPr lang="ru-RU" sz="2400" dirty="0" err="1">
                <a:solidFill>
                  <a:schemeClr val="tx1"/>
                </a:solidFill>
              </a:rPr>
              <a:t>operators</a:t>
            </a:r>
            <a:r>
              <a:rPr lang="ru-RU" sz="2400" dirty="0">
                <a:solidFill>
                  <a:schemeClr val="tx1"/>
                </a:solidFill>
              </a:rPr>
              <a:t>) — записи в адресной книге, на которые будут отправляться сообщения. </a:t>
            </a:r>
          </a:p>
          <a:p>
            <a:pPr algn="just">
              <a:buNone/>
            </a:pP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51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SQL </a:t>
            </a:r>
            <a:r>
              <a:rPr lang="ru-RU" b="1" dirty="0" err="1"/>
              <a:t>Server</a:t>
            </a:r>
            <a:r>
              <a:rPr lang="ru-RU" b="1" dirty="0"/>
              <a:t> </a:t>
            </a:r>
            <a:r>
              <a:rPr lang="ru-RU" b="1" dirty="0" err="1"/>
              <a:t>Agent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017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54709" b="50934"/>
          <a:stretch/>
        </p:blipFill>
        <p:spPr>
          <a:xfrm>
            <a:off x="1115616" y="1772816"/>
            <a:ext cx="6984776" cy="4724178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SQL </a:t>
            </a:r>
            <a:r>
              <a:rPr lang="ru-RU" b="1" dirty="0" err="1"/>
              <a:t>Server</a:t>
            </a:r>
            <a:r>
              <a:rPr lang="ru-RU" b="1" dirty="0"/>
              <a:t> </a:t>
            </a:r>
            <a:r>
              <a:rPr lang="ru-RU" b="1" dirty="0" err="1"/>
              <a:t>Agent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5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53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51" b="17295"/>
          <a:stretch/>
        </p:blipFill>
        <p:spPr bwMode="auto">
          <a:xfrm>
            <a:off x="107504" y="188640"/>
            <a:ext cx="8719276" cy="655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1979712" y="980728"/>
            <a:ext cx="14401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2051720" y="1916832"/>
            <a:ext cx="8640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4716016" y="1660448"/>
            <a:ext cx="5760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6516216" y="6597352"/>
            <a:ext cx="93610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H="1" flipV="1">
            <a:off x="1475656" y="2780928"/>
            <a:ext cx="5184576" cy="3456384"/>
          </a:xfrm>
          <a:prstGeom prst="straightConnector1">
            <a:avLst/>
          </a:prstGeom>
          <a:ln w="539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612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54</a:t>
            </a:fld>
            <a:endParaRPr lang="ru-RU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37088"/>
            <a:ext cx="6408712" cy="4755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b="1" dirty="0"/>
              <a:t>Параметры этапов заданий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797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55</a:t>
            </a:fld>
            <a:endParaRPr lang="ru-RU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958228"/>
            <a:ext cx="5184575" cy="465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b="1" dirty="0"/>
              <a:t>Параметры этапов заданий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025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9" y="1700808"/>
            <a:ext cx="8352928" cy="4407408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>
                <a:solidFill>
                  <a:schemeClr val="tx1"/>
                </a:solidFill>
              </a:rPr>
              <a:t>Используя операционную систему (</a:t>
            </a:r>
            <a:r>
              <a:rPr lang="ru-RU" sz="2400" b="1" dirty="0" err="1">
                <a:solidFill>
                  <a:schemeClr val="tx1"/>
                </a:solidFill>
              </a:rPr>
              <a:t>CmdExec</a:t>
            </a:r>
            <a:r>
              <a:rPr lang="ru-RU" sz="2400" b="1" dirty="0">
                <a:solidFill>
                  <a:schemeClr val="tx1"/>
                </a:solidFill>
              </a:rPr>
              <a:t>). </a:t>
            </a:r>
            <a:r>
              <a:rPr lang="ru-RU" sz="2400" dirty="0">
                <a:solidFill>
                  <a:schemeClr val="tx1"/>
                </a:solidFill>
              </a:rPr>
              <a:t>Для некоторых заданий может потребоваться выполнение какой-либо утилиты SQL </a:t>
            </a:r>
            <a:r>
              <a:rPr lang="ru-RU" sz="2400" dirty="0" err="1">
                <a:solidFill>
                  <a:schemeClr val="tx1"/>
                </a:solidFill>
              </a:rPr>
              <a:t>Server</a:t>
            </a:r>
            <a:r>
              <a:rPr lang="ru-RU" sz="2400" dirty="0">
                <a:solidFill>
                  <a:schemeClr val="tx1"/>
                </a:solidFill>
              </a:rPr>
              <a:t>, которая обычно запускается соответствующей командой. </a:t>
            </a:r>
          </a:p>
          <a:p>
            <a:pPr marL="45720" indent="0" algn="just">
              <a:buNone/>
            </a:pPr>
            <a:endParaRPr lang="ru-RU" sz="24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2400" dirty="0">
                <a:solidFill>
                  <a:schemeClr val="tx1"/>
                </a:solidFill>
              </a:rPr>
              <a:t>Например, чтобы автоматически переместить данные с сервера базы данных в файл данных или наоборот, можно использовать утилиту </a:t>
            </a:r>
            <a:r>
              <a:rPr lang="en-US" sz="2400" b="1" dirty="0" err="1">
                <a:solidFill>
                  <a:schemeClr val="tx1"/>
                </a:solidFill>
              </a:rPr>
              <a:t>bcp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ru-RU" sz="22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t>56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Параметры этапов заданий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613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02848" y="1556792"/>
            <a:ext cx="8689631" cy="4407408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>
                <a:solidFill>
                  <a:schemeClr val="tx1"/>
                </a:solidFill>
              </a:rPr>
              <a:t>Запуская программу.</a:t>
            </a:r>
            <a:r>
              <a:rPr lang="ru-RU" sz="2400" dirty="0">
                <a:solidFill>
                  <a:schemeClr val="tx1"/>
                </a:solidFill>
              </a:rPr>
              <a:t> В этом случае, чтобы служба SQL </a:t>
            </a:r>
            <a:r>
              <a:rPr lang="ru-RU" sz="2400" dirty="0" err="1">
                <a:solidFill>
                  <a:schemeClr val="tx1"/>
                </a:solidFill>
              </a:rPr>
              <a:t>Server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Agent</a:t>
            </a:r>
            <a:r>
              <a:rPr lang="ru-RU" sz="2400" dirty="0">
                <a:solidFill>
                  <a:schemeClr val="tx1"/>
                </a:solidFill>
              </a:rPr>
              <a:t> могла найти исполняемый файл этой программы, в текстовом поле </a:t>
            </a:r>
            <a:r>
              <a:rPr lang="ru-RU" sz="2400" dirty="0" err="1">
                <a:solidFill>
                  <a:schemeClr val="tx1"/>
                </a:solidFill>
              </a:rPr>
              <a:t>Command</a:t>
            </a:r>
            <a:r>
              <a:rPr lang="ru-RU" sz="2400" dirty="0">
                <a:solidFill>
                  <a:schemeClr val="tx1"/>
                </a:solidFill>
              </a:rPr>
              <a:t> в путь запуска этой программы всегда необходимо включать букву накопителя (диска).</a:t>
            </a:r>
          </a:p>
          <a:p>
            <a:pPr algn="just"/>
            <a:r>
              <a:rPr lang="ru-RU" sz="2400" dirty="0">
                <a:solidFill>
                  <a:schemeClr val="tx1"/>
                </a:solidFill>
              </a:rPr>
              <a:t>Если задание состоит из нескольких шагов, важно определить, какие действия нужно предпринять в случае сбоя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ru-RU" sz="2400" dirty="0">
                <a:solidFill>
                  <a:schemeClr val="tx1"/>
                </a:solidFill>
              </a:rPr>
              <a:t>В случае сбоя на каком-либо шаге задания все следующие за ним шаги выполняться не будут. </a:t>
            </a:r>
          </a:p>
          <a:p>
            <a:pPr algn="just"/>
            <a:r>
              <a:rPr lang="ru-RU" sz="2400" dirty="0">
                <a:solidFill>
                  <a:schemeClr val="tx1"/>
                </a:solidFill>
              </a:rPr>
              <a:t>Поэтому всегда следует указывать, какие шаги задания необходимо попытаться выполнить снова в случае возникновения сбоя на одном из них.</a:t>
            </a:r>
          </a:p>
          <a:p>
            <a:pPr algn="just"/>
            <a:endParaRPr lang="ru-RU" sz="22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t>57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Параметры этапов заданий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66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Извещения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40" y="1829160"/>
            <a:ext cx="8696640" cy="422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25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800" dirty="0">
                <a:solidFill>
                  <a:schemeClr val="tx1"/>
                </a:solidFill>
              </a:rPr>
              <a:t>Каждая системная ошибка принадлежит к одному из 26 (с 0 по 25) уровней серьезности.</a:t>
            </a:r>
          </a:p>
          <a:p>
            <a:pPr algn="just"/>
            <a:r>
              <a:rPr lang="ru-RU" sz="2800" dirty="0">
                <a:solidFill>
                  <a:schemeClr val="tx1"/>
                </a:solidFill>
              </a:rPr>
              <a:t>Чем выше уровень, тем серьезнее ошибка. Ошибки уровней с 20 по 25 являются неисправимыми (фатальными) </a:t>
            </a:r>
            <a:r>
              <a:rPr lang="ru-RU" sz="2800" dirty="0" smtClean="0">
                <a:solidFill>
                  <a:schemeClr val="tx1"/>
                </a:solidFill>
              </a:rPr>
              <a:t>ошибками.</a:t>
            </a:r>
          </a:p>
          <a:p>
            <a:pPr algn="just"/>
            <a:r>
              <a:rPr lang="ru-RU" sz="2800" dirty="0" smtClean="0">
                <a:solidFill>
                  <a:schemeClr val="tx1"/>
                </a:solidFill>
              </a:rPr>
              <a:t>Ошибки </a:t>
            </a:r>
            <a:r>
              <a:rPr lang="ru-RU" sz="2800" dirty="0">
                <a:solidFill>
                  <a:schemeClr val="tx1"/>
                </a:solidFill>
              </a:rPr>
              <a:t>уровней с 19 по 25 записываются в журнал событий приложений </a:t>
            </a:r>
            <a:r>
              <a:rPr lang="ru-RU" sz="2800" dirty="0" err="1">
                <a:solidFill>
                  <a:schemeClr val="tx1"/>
                </a:solidFill>
              </a:rPr>
              <a:t>Windows</a:t>
            </a:r>
            <a:r>
              <a:rPr lang="ru-RU" sz="28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ru-RU" sz="2800" dirty="0">
                <a:solidFill>
                  <a:srgbClr val="FF0000"/>
                </a:solidFill>
              </a:rPr>
              <a:t>О возникновении неисправимой ошибки всегда следует извещать оператора.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59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предупреждения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9145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60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624881"/>
          </a:xfrm>
        </p:spPr>
        <p:txBody>
          <a:bodyPr/>
          <a:lstStyle/>
          <a:p>
            <a:r>
              <a:rPr lang="ru-RU" b="1" dirty="0"/>
              <a:t>предупреждения </a:t>
            </a: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7" y="1628800"/>
            <a:ext cx="5872216" cy="5110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362135" y="1844824"/>
            <a:ext cx="23762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/>
              <a:t>Можно </a:t>
            </a:r>
            <a:r>
              <a:rPr lang="ru-RU" dirty="0"/>
              <a:t>установить переключатель </a:t>
            </a:r>
            <a:r>
              <a:rPr lang="ru-RU" dirty="0" err="1"/>
              <a:t>Error</a:t>
            </a:r>
            <a:r>
              <a:rPr lang="ru-RU" dirty="0"/>
              <a:t> </a:t>
            </a:r>
            <a:r>
              <a:rPr lang="ru-RU" dirty="0" err="1"/>
              <a:t>number</a:t>
            </a:r>
            <a:r>
              <a:rPr lang="ru-RU" dirty="0"/>
              <a:t>.</a:t>
            </a:r>
          </a:p>
          <a:p>
            <a:pPr algn="just"/>
            <a:r>
              <a:rPr lang="ru-RU" dirty="0"/>
              <a:t>Ввести значение.</a:t>
            </a:r>
          </a:p>
          <a:p>
            <a:pPr algn="just"/>
            <a:r>
              <a:rPr lang="ru-RU" dirty="0" smtClean="0"/>
              <a:t>Например, 1205</a:t>
            </a:r>
            <a:r>
              <a:rPr lang="ru-RU" dirty="0"/>
              <a:t>. </a:t>
            </a:r>
          </a:p>
          <a:p>
            <a:pPr algn="just"/>
            <a:r>
              <a:rPr lang="ru-RU" dirty="0"/>
              <a:t>(Этот номер ошибки обозначает проблему взаимоблокировки, где текущий</a:t>
            </a:r>
          </a:p>
          <a:p>
            <a:pPr algn="just"/>
            <a:r>
              <a:rPr lang="ru-RU" dirty="0"/>
              <a:t>процесс был назначен "жертвой".)</a:t>
            </a:r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2195736" y="2492896"/>
            <a:ext cx="2664296" cy="1152128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967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" indent="0" algn="ctr">
              <a:buNone/>
            </a:pPr>
            <a:r>
              <a:rPr lang="ru-RU" sz="2500" u="sng" dirty="0">
                <a:solidFill>
                  <a:schemeClr val="tx1"/>
                </a:solidFill>
              </a:rPr>
              <a:t>Задание может запускаться: </a:t>
            </a: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•автоматически с помощью расписания; </a:t>
            </a: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•автоматически в ответ на событие, которое произошло на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. </a:t>
            </a:r>
            <a:r>
              <a:rPr lang="ru-RU" sz="2500" b="1" dirty="0">
                <a:solidFill>
                  <a:schemeClr val="tx1"/>
                </a:solidFill>
              </a:rPr>
              <a:t>Для этого необходимо настроить предупреждение, при срабатывании которого будет автоматически запущено наше задание (вкладка </a:t>
            </a:r>
            <a:r>
              <a:rPr lang="ru-RU" sz="2500" b="1" dirty="0" err="1">
                <a:solidFill>
                  <a:schemeClr val="tx1"/>
                </a:solidFill>
              </a:rPr>
              <a:t>Alerts</a:t>
            </a:r>
            <a:r>
              <a:rPr lang="ru-RU" sz="2500" b="1" dirty="0">
                <a:solidFill>
                  <a:schemeClr val="tx1"/>
                </a:solidFill>
              </a:rPr>
              <a:t> свойств этого задания); </a:t>
            </a: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•вручную из контекстного меню для задания в </a:t>
            </a:r>
            <a:r>
              <a:rPr lang="ru-RU" sz="2500" dirty="0" err="1">
                <a:solidFill>
                  <a:schemeClr val="tx1"/>
                </a:solidFill>
              </a:rPr>
              <a:t>Management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Studio</a:t>
            </a:r>
            <a:r>
              <a:rPr lang="ru-RU" sz="2500" dirty="0">
                <a:solidFill>
                  <a:schemeClr val="tx1"/>
                </a:solidFill>
              </a:rPr>
              <a:t> (команда </a:t>
            </a:r>
            <a:r>
              <a:rPr lang="ru-RU" sz="2500" b="1" dirty="0" err="1">
                <a:solidFill>
                  <a:schemeClr val="tx1"/>
                </a:solidFill>
              </a:rPr>
              <a:t>Start</a:t>
            </a:r>
            <a:r>
              <a:rPr lang="ru-RU" sz="2500" b="1" dirty="0">
                <a:solidFill>
                  <a:schemeClr val="tx1"/>
                </a:solidFill>
              </a:rPr>
              <a:t> </a:t>
            </a:r>
            <a:r>
              <a:rPr lang="ru-RU" sz="2500" b="1" dirty="0" err="1">
                <a:solidFill>
                  <a:schemeClr val="tx1"/>
                </a:solidFill>
              </a:rPr>
              <a:t>Job</a:t>
            </a:r>
            <a:r>
              <a:rPr lang="ru-RU" sz="2500" dirty="0">
                <a:solidFill>
                  <a:schemeClr val="tx1"/>
                </a:solidFill>
              </a:rPr>
              <a:t>); </a:t>
            </a:r>
          </a:p>
          <a:p>
            <a:pPr marL="45720" indent="0" algn="just">
              <a:buNone/>
            </a:pPr>
            <a:r>
              <a:rPr lang="ru-RU" sz="2500" dirty="0">
                <a:solidFill>
                  <a:schemeClr val="tx1"/>
                </a:solidFill>
              </a:rPr>
              <a:t>•вручную с помощью хранимой процедурой </a:t>
            </a:r>
            <a:r>
              <a:rPr lang="ru-RU" sz="2500" b="1" dirty="0" err="1">
                <a:solidFill>
                  <a:schemeClr val="tx1"/>
                </a:solidFill>
              </a:rPr>
              <a:t>sp_start_job</a:t>
            </a:r>
            <a:r>
              <a:rPr lang="ru-RU" sz="2500" dirty="0">
                <a:solidFill>
                  <a:schemeClr val="tx1"/>
                </a:solidFill>
              </a:rPr>
              <a:t>. </a:t>
            </a:r>
          </a:p>
          <a:p>
            <a:pPr algn="just"/>
            <a:endParaRPr lang="ru-RU" sz="25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t>61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Запуск заданий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234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5004048" y="1700808"/>
            <a:ext cx="3928860" cy="4806273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1200" dirty="0">
                <a:solidFill>
                  <a:schemeClr val="tx1"/>
                </a:solidFill>
              </a:rPr>
              <a:t>У расписания и у задания должен быть один и тот же владелец. </a:t>
            </a:r>
          </a:p>
          <a:p>
            <a:pPr marL="45720" indent="0" algn="just">
              <a:buNone/>
            </a:pPr>
            <a:r>
              <a:rPr lang="ru-RU" sz="1200" dirty="0">
                <a:solidFill>
                  <a:schemeClr val="tx1"/>
                </a:solidFill>
              </a:rPr>
              <a:t>Для одного задания можно настроить несколько расписаний. </a:t>
            </a:r>
          </a:p>
          <a:p>
            <a:pPr marL="45720" indent="0" algn="just">
              <a:buNone/>
            </a:pPr>
            <a:r>
              <a:rPr lang="ru-RU" sz="1200" dirty="0">
                <a:solidFill>
                  <a:schemeClr val="tx1"/>
                </a:solidFill>
              </a:rPr>
              <a:t>1. На вкладке </a:t>
            </a:r>
            <a:r>
              <a:rPr lang="ru-RU" sz="1200" b="1" dirty="0" err="1">
                <a:solidFill>
                  <a:schemeClr val="tx1"/>
                </a:solidFill>
              </a:rPr>
              <a:t>Schedules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свойств задания нажать кнопку </a:t>
            </a:r>
            <a:r>
              <a:rPr lang="ru-RU" sz="1200" b="1" dirty="0" err="1">
                <a:solidFill>
                  <a:schemeClr val="tx1"/>
                </a:solidFill>
              </a:rPr>
              <a:t>New</a:t>
            </a:r>
            <a:r>
              <a:rPr lang="ru-RU" sz="1200" b="1" dirty="0">
                <a:solidFill>
                  <a:schemeClr val="tx1"/>
                </a:solidFill>
              </a:rPr>
              <a:t>… </a:t>
            </a:r>
            <a:endParaRPr lang="ru-RU" sz="1200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sz="1200" dirty="0">
                <a:solidFill>
                  <a:schemeClr val="tx1"/>
                </a:solidFill>
              </a:rPr>
              <a:t>2. Задать имя и выбрать тип расписания при помощи списка </a:t>
            </a:r>
            <a:r>
              <a:rPr lang="ru-RU" sz="1200" b="1" dirty="0" err="1">
                <a:solidFill>
                  <a:schemeClr val="tx1"/>
                </a:solidFill>
              </a:rPr>
              <a:t>Schedule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b="1" dirty="0" err="1">
                <a:solidFill>
                  <a:schemeClr val="tx1"/>
                </a:solidFill>
              </a:rPr>
              <a:t>Type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в окне свойств расписания: </a:t>
            </a:r>
          </a:p>
          <a:p>
            <a:pPr marL="45720" indent="0" algn="just">
              <a:buNone/>
            </a:pPr>
            <a:r>
              <a:rPr lang="ru-RU" sz="1200" dirty="0">
                <a:solidFill>
                  <a:schemeClr val="tx1"/>
                </a:solidFill>
              </a:rPr>
              <a:t>• </a:t>
            </a:r>
            <a:r>
              <a:rPr lang="ru-RU" sz="1200" b="1" dirty="0" err="1">
                <a:solidFill>
                  <a:schemeClr val="tx1"/>
                </a:solidFill>
              </a:rPr>
              <a:t>Recurring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- повторяющееся действие; </a:t>
            </a:r>
          </a:p>
          <a:p>
            <a:pPr marL="45720" indent="0" algn="just">
              <a:buNone/>
            </a:pPr>
            <a:r>
              <a:rPr lang="ru-RU" sz="1200" dirty="0">
                <a:solidFill>
                  <a:schemeClr val="tx1"/>
                </a:solidFill>
              </a:rPr>
              <a:t>• </a:t>
            </a:r>
            <a:r>
              <a:rPr lang="ru-RU" sz="1200" b="1" dirty="0" err="1">
                <a:solidFill>
                  <a:schemeClr val="tx1"/>
                </a:solidFill>
              </a:rPr>
              <a:t>One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b="1" dirty="0" err="1">
                <a:solidFill>
                  <a:schemeClr val="tx1"/>
                </a:solidFill>
              </a:rPr>
              <a:t>time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- действие будет выполнено только один раз; </a:t>
            </a:r>
          </a:p>
          <a:p>
            <a:pPr marL="45720" indent="0" algn="just">
              <a:buNone/>
            </a:pPr>
            <a:r>
              <a:rPr lang="en-US" sz="1200" dirty="0">
                <a:solidFill>
                  <a:schemeClr val="tx1"/>
                </a:solidFill>
              </a:rPr>
              <a:t>• </a:t>
            </a:r>
            <a:r>
              <a:rPr lang="en-US" sz="1200" b="1" dirty="0">
                <a:solidFill>
                  <a:schemeClr val="tx1"/>
                </a:solidFill>
              </a:rPr>
              <a:t>Start automatically when SQL Server Agent starts </a:t>
            </a:r>
            <a:r>
              <a:rPr lang="en-US" sz="1200" dirty="0">
                <a:solidFill>
                  <a:schemeClr val="tx1"/>
                </a:solidFill>
              </a:rPr>
              <a:t>- </a:t>
            </a:r>
            <a:r>
              <a:rPr lang="ru-RU" sz="1200" dirty="0">
                <a:solidFill>
                  <a:schemeClr val="tx1"/>
                </a:solidFill>
              </a:rPr>
              <a:t>задание будет запускаться автоматически каждый раз при запуске </a:t>
            </a:r>
            <a:r>
              <a:rPr lang="en-US" sz="1200" dirty="0">
                <a:solidFill>
                  <a:schemeClr val="tx1"/>
                </a:solidFill>
              </a:rPr>
              <a:t>SQL Server Agent; </a:t>
            </a:r>
          </a:p>
          <a:p>
            <a:pPr marL="45720" indent="0" algn="just">
              <a:buNone/>
            </a:pPr>
            <a:r>
              <a:rPr lang="ru-RU" sz="1200" dirty="0">
                <a:solidFill>
                  <a:schemeClr val="tx1"/>
                </a:solidFill>
              </a:rPr>
              <a:t>• </a:t>
            </a:r>
            <a:r>
              <a:rPr lang="ru-RU" sz="1200" b="1" dirty="0" err="1">
                <a:solidFill>
                  <a:schemeClr val="tx1"/>
                </a:solidFill>
              </a:rPr>
              <a:t>Start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b="1" dirty="0" err="1">
                <a:solidFill>
                  <a:schemeClr val="tx1"/>
                </a:solidFill>
              </a:rPr>
              <a:t>whenever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b="1" dirty="0" err="1">
                <a:solidFill>
                  <a:schemeClr val="tx1"/>
                </a:solidFill>
              </a:rPr>
              <a:t>the</a:t>
            </a:r>
            <a:r>
              <a:rPr lang="ru-RU" sz="1200" b="1" dirty="0">
                <a:solidFill>
                  <a:schemeClr val="tx1"/>
                </a:solidFill>
              </a:rPr>
              <a:t> CPU </a:t>
            </a:r>
            <a:r>
              <a:rPr lang="ru-RU" sz="1200" b="1" dirty="0" err="1">
                <a:solidFill>
                  <a:schemeClr val="tx1"/>
                </a:solidFill>
              </a:rPr>
              <a:t>become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b="1" dirty="0" err="1">
                <a:solidFill>
                  <a:schemeClr val="tx1"/>
                </a:solidFill>
              </a:rPr>
              <a:t>idle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- запускать во время простоя центрального процессора. Состояние простоя определяется на вкладке </a:t>
            </a:r>
            <a:r>
              <a:rPr lang="ru-RU" sz="1200" b="1" dirty="0" err="1">
                <a:solidFill>
                  <a:schemeClr val="tx1"/>
                </a:solidFill>
              </a:rPr>
              <a:t>Advanced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(Дополнительно) свойств SQL </a:t>
            </a:r>
            <a:r>
              <a:rPr lang="ru-RU" sz="1200" dirty="0" err="1">
                <a:solidFill>
                  <a:schemeClr val="tx1"/>
                </a:solidFill>
              </a:rPr>
              <a:t>Server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ru-RU" sz="1200" dirty="0" err="1">
                <a:solidFill>
                  <a:schemeClr val="tx1"/>
                </a:solidFill>
              </a:rPr>
              <a:t>Agent</a:t>
            </a:r>
            <a:r>
              <a:rPr lang="ru-RU" sz="1200" dirty="0">
                <a:solidFill>
                  <a:schemeClr val="tx1"/>
                </a:solidFill>
              </a:rPr>
              <a:t>. </a:t>
            </a:r>
          </a:p>
          <a:p>
            <a:pPr marL="45720" indent="0" algn="just">
              <a:buNone/>
            </a:pPr>
            <a:r>
              <a:rPr lang="ru-RU" sz="1200" dirty="0">
                <a:solidFill>
                  <a:schemeClr val="tx1"/>
                </a:solidFill>
              </a:rPr>
              <a:t>3. Если необходимо, расписание можно отключить, сняв флажок </a:t>
            </a:r>
            <a:r>
              <a:rPr lang="ru-RU" sz="1200" b="1" dirty="0" err="1">
                <a:solidFill>
                  <a:schemeClr val="tx1"/>
                </a:solidFill>
              </a:rPr>
              <a:t>Enabled</a:t>
            </a:r>
            <a:r>
              <a:rPr lang="ru-RU" sz="1200" b="1" dirty="0">
                <a:solidFill>
                  <a:schemeClr val="tx1"/>
                </a:solidFill>
              </a:rPr>
              <a:t> </a:t>
            </a:r>
            <a:r>
              <a:rPr lang="ru-RU" sz="1200" dirty="0">
                <a:solidFill>
                  <a:schemeClr val="tx1"/>
                </a:solidFill>
              </a:rPr>
              <a:t>в свойствах расписания.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t>62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Настройка расписания заданий 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54" y="1911638"/>
            <a:ext cx="4742910" cy="438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224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51413" y="1628800"/>
            <a:ext cx="3960440" cy="5138929"/>
          </a:xfrm>
        </p:spPr>
        <p:txBody>
          <a:bodyPr>
            <a:normAutofit/>
          </a:bodyPr>
          <a:lstStyle/>
          <a:p>
            <a:pPr algn="just"/>
            <a:r>
              <a:rPr lang="ru-RU" b="1" dirty="0" smtClean="0">
                <a:solidFill>
                  <a:schemeClr val="tx1"/>
                </a:solidFill>
              </a:rPr>
              <a:t>Оператор</a:t>
            </a:r>
            <a:r>
              <a:rPr lang="ru-RU" dirty="0">
                <a:solidFill>
                  <a:schemeClr val="tx1"/>
                </a:solidFill>
              </a:rPr>
              <a:t> определяет контактные сведения о лице, ответственном за обслуживание одного или нескольких экземпляров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. 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ru-RU" dirty="0">
                <a:solidFill>
                  <a:schemeClr val="tx1"/>
                </a:solidFill>
              </a:rPr>
              <a:t>В организациях, использующих несколько серверов, обязанности оператора могут быть разделены между несколькими лицами. </a:t>
            </a:r>
            <a:endParaRPr lang="ru-RU" dirty="0" smtClean="0">
              <a:solidFill>
                <a:schemeClr val="tx1"/>
              </a:solidFill>
            </a:endParaRPr>
          </a:p>
          <a:p>
            <a:pPr algn="just"/>
            <a:r>
              <a:rPr lang="ru-RU" dirty="0" smtClean="0">
                <a:solidFill>
                  <a:schemeClr val="tx1"/>
                </a:solidFill>
              </a:rPr>
              <a:t>Прежде </a:t>
            </a:r>
            <a:r>
              <a:rPr lang="ru-RU" dirty="0">
                <a:solidFill>
                  <a:schemeClr val="tx1"/>
                </a:solidFill>
              </a:rPr>
              <a:t>чем назначить оператор заданию, вы должны создать для него запись.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63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288" y="1688036"/>
            <a:ext cx="4639358" cy="47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3030999" y="114528"/>
            <a:ext cx="27939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cap="all" spc="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Операторы</a:t>
            </a:r>
            <a:r>
              <a:rPr lang="en-US" sz="3200" b="1" cap="all" spc="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endParaRPr lang="ru-RU" sz="3200" b="1" cap="all" spc="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519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8" y="1719071"/>
            <a:ext cx="8568952" cy="4407408"/>
          </a:xfrm>
        </p:spPr>
        <p:txBody>
          <a:bodyPr>
            <a:noAutofit/>
          </a:bodyPr>
          <a:lstStyle/>
          <a:p>
            <a:pPr algn="just"/>
            <a:r>
              <a:rPr lang="ru-RU" sz="2500" dirty="0">
                <a:solidFill>
                  <a:schemeClr val="tx1"/>
                </a:solidFill>
              </a:rPr>
              <a:t>Компонент </a:t>
            </a:r>
            <a:r>
              <a:rPr lang="ru-RU" sz="2500" dirty="0" err="1">
                <a:solidFill>
                  <a:schemeClr val="tx1"/>
                </a:solidFill>
              </a:rPr>
              <a:t>Database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Mail</a:t>
            </a:r>
            <a:r>
              <a:rPr lang="ru-RU" sz="2500" dirty="0">
                <a:solidFill>
                  <a:schemeClr val="tx1"/>
                </a:solidFill>
              </a:rPr>
              <a:t> — это решение уровня предприятия для отправки сообщений электронной почты из компонента Компонент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Database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Engine</a:t>
            </a:r>
            <a:r>
              <a:rPr lang="ru-RU" sz="2500" dirty="0">
                <a:solidFill>
                  <a:schemeClr val="tx1"/>
                </a:solidFill>
              </a:rPr>
              <a:t> или </a:t>
            </a:r>
            <a:r>
              <a:rPr lang="ru-RU" sz="2500" dirty="0">
                <a:solidFill>
                  <a:schemeClr val="tx1"/>
                </a:solidFill>
                <a:hlinkClick r:id="rId2"/>
              </a:rPr>
              <a:t>Управляемого экземпляра SQL </a:t>
            </a:r>
            <a:r>
              <a:rPr lang="ru-RU" sz="2500" dirty="0" err="1">
                <a:solidFill>
                  <a:schemeClr val="tx1"/>
                </a:solidFill>
                <a:hlinkClick r:id="rId2"/>
              </a:rPr>
              <a:t>Azure</a:t>
            </a:r>
            <a:r>
              <a:rPr lang="ru-RU" sz="2500" dirty="0">
                <a:solidFill>
                  <a:schemeClr val="tx1"/>
                </a:solidFill>
              </a:rPr>
              <a:t>. Используя компонент </a:t>
            </a:r>
            <a:r>
              <a:rPr lang="ru-RU" sz="2500" dirty="0" err="1">
                <a:solidFill>
                  <a:schemeClr val="tx1"/>
                </a:solidFill>
              </a:rPr>
              <a:t>Database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Mail</a:t>
            </a:r>
            <a:r>
              <a:rPr lang="ru-RU" sz="2500" dirty="0">
                <a:solidFill>
                  <a:schemeClr val="tx1"/>
                </a:solidFill>
              </a:rPr>
              <a:t>, приложения </a:t>
            </a:r>
            <a:r>
              <a:rPr lang="ru-RU" sz="2500" dirty="0" smtClean="0">
                <a:solidFill>
                  <a:schemeClr val="tx1"/>
                </a:solidFill>
              </a:rPr>
              <a:t>БД могут </a:t>
            </a:r>
            <a:r>
              <a:rPr lang="ru-RU" sz="2500" dirty="0">
                <a:solidFill>
                  <a:schemeClr val="tx1"/>
                </a:solidFill>
              </a:rPr>
              <a:t>отправлять почтовые сообщения пользователям. </a:t>
            </a:r>
          </a:p>
          <a:p>
            <a:pPr algn="just"/>
            <a:r>
              <a:rPr lang="ru-RU" sz="2500" dirty="0">
                <a:solidFill>
                  <a:schemeClr val="tx1"/>
                </a:solidFill>
              </a:rPr>
              <a:t>Инициирование предупреждающего сообщения может также включать в себя отправку сообщения оператору (или операторам) по электронной почте, используя компонент </a:t>
            </a:r>
            <a:r>
              <a:rPr lang="ru-RU" sz="2500" dirty="0" err="1">
                <a:solidFill>
                  <a:schemeClr val="tx1"/>
                </a:solidFill>
              </a:rPr>
              <a:t>Database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Mail</a:t>
            </a:r>
            <a:r>
              <a:rPr lang="ru-RU" sz="2500" dirty="0">
                <a:solidFill>
                  <a:schemeClr val="tx1"/>
                </a:solidFill>
              </a:rPr>
              <a:t>. </a:t>
            </a:r>
          </a:p>
          <a:p>
            <a:pPr algn="just"/>
            <a:endParaRPr lang="ru-RU" sz="2500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64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Автоматизация задач в SQL </a:t>
            </a:r>
            <a:r>
              <a:rPr lang="ru-RU" b="1" dirty="0" err="1"/>
              <a:t>Server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989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1719070"/>
            <a:ext cx="8321349" cy="4734266"/>
          </a:xfrm>
        </p:spPr>
        <p:txBody>
          <a:bodyPr>
            <a:normAutofit/>
          </a:bodyPr>
          <a:lstStyle/>
          <a:p>
            <a:pPr algn="just"/>
            <a:r>
              <a:rPr lang="ru-RU" sz="2500" dirty="0" err="1">
                <a:solidFill>
                  <a:schemeClr val="tx1"/>
                </a:solidFill>
              </a:rPr>
              <a:t>Database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Mail</a:t>
            </a:r>
            <a:r>
              <a:rPr lang="ru-RU" sz="2500" dirty="0">
                <a:solidFill>
                  <a:schemeClr val="tx1"/>
                </a:solidFill>
              </a:rPr>
              <a:t> доступен во всех редакциях, за исключением </a:t>
            </a:r>
            <a:r>
              <a:rPr lang="ru-RU" sz="2500" dirty="0" err="1">
                <a:solidFill>
                  <a:schemeClr val="tx1"/>
                </a:solidFill>
              </a:rPr>
              <a:t>Express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Edition</a:t>
            </a:r>
            <a:r>
              <a:rPr lang="ru-RU" sz="25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ru-RU" sz="2500" dirty="0" smtClean="0">
                <a:solidFill>
                  <a:schemeClr val="tx1"/>
                </a:solidFill>
              </a:rPr>
              <a:t>Должно </a:t>
            </a:r>
            <a:r>
              <a:rPr lang="ru-RU" sz="2500" dirty="0">
                <a:solidFill>
                  <a:schemeClr val="tx1"/>
                </a:solidFill>
              </a:rPr>
              <a:t>быть членство в роли </a:t>
            </a:r>
            <a:r>
              <a:rPr lang="ru-RU" sz="2500" dirty="0" err="1">
                <a:solidFill>
                  <a:srgbClr val="FFFF00"/>
                </a:solidFill>
              </a:rPr>
              <a:t>sysadmin</a:t>
            </a:r>
            <a:r>
              <a:rPr lang="ru-RU" sz="2500" dirty="0">
                <a:solidFill>
                  <a:schemeClr val="tx1"/>
                </a:solidFill>
              </a:rPr>
              <a:t> у учетной записи в SQL </a:t>
            </a:r>
            <a:r>
              <a:rPr lang="ru-RU" sz="2500" dirty="0" err="1">
                <a:solidFill>
                  <a:schemeClr val="tx1"/>
                </a:solidFill>
              </a:rPr>
              <a:t>Server</a:t>
            </a:r>
            <a:r>
              <a:rPr lang="ru-RU" sz="2500" dirty="0">
                <a:solidFill>
                  <a:schemeClr val="tx1"/>
                </a:solidFill>
              </a:rPr>
              <a:t>, поскольку настройку могут производить только члены этой роли</a:t>
            </a:r>
            <a:r>
              <a:rPr lang="ru-RU" sz="25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ru-RU" sz="2500" dirty="0">
                <a:solidFill>
                  <a:schemeClr val="tx1"/>
                </a:solidFill>
              </a:rPr>
              <a:t>Для отправки почты с помощью компонента </a:t>
            </a:r>
            <a:r>
              <a:rPr lang="ru-RU" sz="2500" dirty="0" err="1">
                <a:solidFill>
                  <a:schemeClr val="tx1"/>
                </a:solidFill>
              </a:rPr>
              <a:t>Database</a:t>
            </a:r>
            <a:r>
              <a:rPr lang="ru-RU" sz="2500" dirty="0">
                <a:solidFill>
                  <a:schemeClr val="tx1"/>
                </a:solidFill>
              </a:rPr>
              <a:t> </a:t>
            </a:r>
            <a:r>
              <a:rPr lang="ru-RU" sz="2500" dirty="0" err="1">
                <a:solidFill>
                  <a:schemeClr val="tx1"/>
                </a:solidFill>
              </a:rPr>
              <a:t>Mail</a:t>
            </a:r>
            <a:r>
              <a:rPr lang="ru-RU" sz="2500" dirty="0">
                <a:solidFill>
                  <a:schemeClr val="tx1"/>
                </a:solidFill>
              </a:rPr>
              <a:t> необходимо быть </a:t>
            </a:r>
            <a:r>
              <a:rPr lang="ru-RU" sz="2500" dirty="0">
                <a:solidFill>
                  <a:srgbClr val="FFFF00"/>
                </a:solidFill>
              </a:rPr>
              <a:t>членом роли </a:t>
            </a:r>
            <a:r>
              <a:rPr lang="ru-RU" sz="2500" dirty="0" err="1">
                <a:solidFill>
                  <a:srgbClr val="FFFF00"/>
                </a:solidFill>
              </a:rPr>
              <a:t>DatabaseMailUserRole</a:t>
            </a:r>
            <a:r>
              <a:rPr lang="ru-RU" sz="2500" dirty="0">
                <a:solidFill>
                  <a:srgbClr val="FFFF00"/>
                </a:solidFill>
              </a:rPr>
              <a:t> в базе данных </a:t>
            </a:r>
            <a:r>
              <a:rPr lang="ru-RU" sz="2500" dirty="0" err="1">
                <a:solidFill>
                  <a:srgbClr val="FFFF00"/>
                </a:solidFill>
              </a:rPr>
              <a:t>msdb</a:t>
            </a:r>
            <a:r>
              <a:rPr lang="ru-RU" sz="2500" dirty="0">
                <a:solidFill>
                  <a:srgbClr val="FFFF00"/>
                </a:solidFill>
              </a:rPr>
              <a:t> </a:t>
            </a:r>
            <a:r>
              <a:rPr lang="ru-RU" sz="25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65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Mail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43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smtClean="0">
                <a:solidFill>
                  <a:schemeClr val="tx1"/>
                </a:solidFill>
              </a:rPr>
              <a:t>Отправка </a:t>
            </a:r>
            <a:r>
              <a:rPr lang="ru-RU" dirty="0">
                <a:solidFill>
                  <a:schemeClr val="tx1"/>
                </a:solidFill>
              </a:rPr>
              <a:t>электронных писем без стороннего клиента;</a:t>
            </a:r>
          </a:p>
          <a:p>
            <a:r>
              <a:rPr lang="ru-RU" dirty="0">
                <a:solidFill>
                  <a:schemeClr val="tx1"/>
                </a:solidFill>
              </a:rPr>
              <a:t>Возможность вставлять в письмо результаты запроса;</a:t>
            </a:r>
          </a:p>
          <a:p>
            <a:r>
              <a:rPr lang="ru-RU" dirty="0">
                <a:solidFill>
                  <a:schemeClr val="tx1"/>
                </a:solidFill>
              </a:rPr>
              <a:t>Возможность вкладывать файлы в письмо;</a:t>
            </a:r>
          </a:p>
          <a:p>
            <a:r>
              <a:rPr lang="ru-RU" dirty="0">
                <a:solidFill>
                  <a:schemeClr val="tx1"/>
                </a:solidFill>
              </a:rPr>
              <a:t>Можно указывать важность сообщения;</a:t>
            </a:r>
          </a:p>
          <a:p>
            <a:r>
              <a:rPr lang="ru-RU" dirty="0">
                <a:solidFill>
                  <a:schemeClr val="tx1"/>
                </a:solidFill>
              </a:rPr>
              <a:t>Письма можно посылать сразу на несколько адресов, а также можно указывать адреса, на которые посылать копию;</a:t>
            </a:r>
          </a:p>
          <a:p>
            <a:r>
              <a:rPr lang="ru-RU" dirty="0">
                <a:solidFill>
                  <a:schemeClr val="tx1"/>
                </a:solidFill>
              </a:rPr>
              <a:t>Возможность выбора формата письма TEXT или HTML;</a:t>
            </a:r>
          </a:p>
          <a:p>
            <a:r>
              <a:rPr lang="ru-RU" dirty="0">
                <a:solidFill>
                  <a:schemeClr val="tx1"/>
                </a:solidFill>
              </a:rPr>
              <a:t>Аудит и ведение журнала отправленных писем;</a:t>
            </a:r>
          </a:p>
          <a:p>
            <a:r>
              <a:rPr lang="ru-RU" dirty="0">
                <a:solidFill>
                  <a:schemeClr val="tx1"/>
                </a:solidFill>
              </a:rPr>
              <a:t>Возможность создания множества профилей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, а также указывать более одного SMTP-сервера;</a:t>
            </a:r>
          </a:p>
          <a:p>
            <a:r>
              <a:rPr lang="ru-RU" dirty="0">
                <a:solidFill>
                  <a:schemeClr val="tx1"/>
                </a:solidFill>
              </a:rPr>
              <a:t>Взаимодействие с агентом SQL сервера;</a:t>
            </a:r>
          </a:p>
          <a:p>
            <a:r>
              <a:rPr lang="ru-RU" dirty="0">
                <a:solidFill>
                  <a:schemeClr val="tx1"/>
                </a:solidFill>
              </a:rPr>
              <a:t>Возможность ограничивать размер вложений и указывать запрещенные к отправке расширения файлов.</a:t>
            </a:r>
          </a:p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66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</a:t>
            </a:r>
            <a:r>
              <a:rPr lang="ru-RU" b="1" dirty="0" smtClean="0"/>
              <a:t>возможности</a:t>
            </a:r>
            <a:br>
              <a:rPr lang="ru-RU" b="1" dirty="0" smtClean="0"/>
            </a:br>
            <a:r>
              <a:rPr lang="ru-RU" b="1" dirty="0" err="1" smtClean="0"/>
              <a:t>Database</a:t>
            </a:r>
            <a:r>
              <a:rPr lang="ru-RU" b="1" dirty="0" smtClean="0"/>
              <a:t> </a:t>
            </a:r>
            <a:r>
              <a:rPr lang="ru-RU" b="1" dirty="0" err="1" smtClean="0"/>
              <a:t>Mail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883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67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Mail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84416"/>
            <a:ext cx="5976664" cy="4830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65" y="2689978"/>
            <a:ext cx="8219763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094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251520" y="1628800"/>
            <a:ext cx="8784976" cy="4407408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1. Включить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 и создать необходимый профиль и </a:t>
            </a:r>
            <a:r>
              <a:rPr lang="ru-RU">
                <a:solidFill>
                  <a:schemeClr val="tx1"/>
                </a:solidFill>
              </a:rPr>
              <a:t>учетную запись; </a:t>
            </a:r>
            <a:endParaRPr lang="ru-RU" dirty="0">
              <a:solidFill>
                <a:schemeClr val="tx1"/>
              </a:solidFill>
            </a:endParaRP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2. Включить учетную запись, от имени которой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Agent</a:t>
            </a:r>
            <a:r>
              <a:rPr lang="ru-RU" dirty="0">
                <a:solidFill>
                  <a:schemeClr val="tx1"/>
                </a:solidFill>
              </a:rPr>
              <a:t> подключается к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, в роль </a:t>
            </a:r>
            <a:r>
              <a:rPr lang="ru-RU" b="1" dirty="0" err="1">
                <a:solidFill>
                  <a:schemeClr val="tx1"/>
                </a:solidFill>
              </a:rPr>
              <a:t>DatabaseMailUserRole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в базе данных MSDB;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3. Сделать данный профиль профилем по умолчанию для учетной записи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Agent</a:t>
            </a:r>
            <a:r>
              <a:rPr lang="ru-RU" dirty="0">
                <a:solidFill>
                  <a:schemeClr val="tx1"/>
                </a:solidFill>
              </a:rPr>
              <a:t>;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4. Открыть свойства </a:t>
            </a:r>
            <a:r>
              <a:rPr lang="en-US" dirty="0">
                <a:solidFill>
                  <a:schemeClr val="tx1"/>
                </a:solidFill>
              </a:rPr>
              <a:t>SQL Server Agent </a:t>
            </a:r>
            <a:r>
              <a:rPr lang="ru-RU" dirty="0">
                <a:solidFill>
                  <a:schemeClr val="tx1"/>
                </a:solidFill>
              </a:rPr>
              <a:t>и на вкладке </a:t>
            </a:r>
            <a:r>
              <a:rPr lang="en-US" b="1" dirty="0">
                <a:solidFill>
                  <a:schemeClr val="tx1"/>
                </a:solidFill>
              </a:rPr>
              <a:t>Alert System </a:t>
            </a:r>
            <a:r>
              <a:rPr lang="ru-RU" dirty="0">
                <a:solidFill>
                  <a:schemeClr val="tx1"/>
                </a:solidFill>
              </a:rPr>
              <a:t>установить флажок </a:t>
            </a:r>
            <a:r>
              <a:rPr lang="en-US" b="1" dirty="0">
                <a:solidFill>
                  <a:schemeClr val="tx1"/>
                </a:solidFill>
              </a:rPr>
              <a:t>Enable mail profile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5. В списке </a:t>
            </a:r>
            <a:r>
              <a:rPr lang="ru-RU" b="1" dirty="0" err="1">
                <a:solidFill>
                  <a:schemeClr val="tx1"/>
                </a:solidFill>
              </a:rPr>
              <a:t>Mail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system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выбрать систему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, а в списке почтовых профилей— нужный профиль;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6. Перезапустить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Agent</a:t>
            </a:r>
            <a:r>
              <a:rPr lang="ru-RU" dirty="0">
                <a:solidFill>
                  <a:schemeClr val="tx1"/>
                </a:solidFill>
              </a:rPr>
              <a:t>, чтобы изменения вступили в силу.  После этого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 сможет средствами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 отправлять информацию о сработавших оповещениях или, к примеру, о результатах выполнения заданий.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68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Настройка SQL </a:t>
            </a:r>
            <a:r>
              <a:rPr lang="ru-RU" b="1" dirty="0" err="1"/>
              <a:t>Server</a:t>
            </a:r>
            <a:r>
              <a:rPr lang="ru-RU" b="1" dirty="0"/>
              <a:t> </a:t>
            </a:r>
            <a:r>
              <a:rPr lang="ru-RU" b="1" dirty="0" err="1" smtClean="0"/>
              <a:t>Agent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19188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987" y="363690"/>
            <a:ext cx="8836013" cy="6264696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2317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70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Mail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2"/>
            <a:ext cx="7632848" cy="48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42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03588" y="1791079"/>
            <a:ext cx="8788892" cy="4878281"/>
          </a:xfrm>
        </p:spPr>
        <p:txBody>
          <a:bodyPr>
            <a:normAutofit/>
          </a:bodyPr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По умолчанию подсистема </a:t>
            </a:r>
            <a:r>
              <a:rPr lang="en-US" dirty="0">
                <a:solidFill>
                  <a:schemeClr val="tx1"/>
                </a:solidFill>
              </a:rPr>
              <a:t>Database Mail </a:t>
            </a:r>
            <a:r>
              <a:rPr lang="ru-RU" dirty="0">
                <a:solidFill>
                  <a:schemeClr val="tx1"/>
                </a:solidFill>
              </a:rPr>
              <a:t>на </a:t>
            </a:r>
            <a:r>
              <a:rPr lang="en-US" dirty="0">
                <a:solidFill>
                  <a:schemeClr val="tx1"/>
                </a:solidFill>
              </a:rPr>
              <a:t>SQL Server 2012 </a:t>
            </a:r>
            <a:r>
              <a:rPr lang="ru-RU" dirty="0">
                <a:solidFill>
                  <a:schemeClr val="tx1"/>
                </a:solidFill>
              </a:rPr>
              <a:t>отключена, и поэтому появится окно сообщения с предложением ее включить. 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ru-RU" dirty="0">
                <a:solidFill>
                  <a:schemeClr val="tx1"/>
                </a:solidFill>
              </a:rPr>
              <a:t>На экране </a:t>
            </a:r>
            <a:r>
              <a:rPr lang="ru-RU" b="1" dirty="0" err="1">
                <a:solidFill>
                  <a:schemeClr val="tx1"/>
                </a:solidFill>
              </a:rPr>
              <a:t>New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b="1" dirty="0" err="1">
                <a:solidFill>
                  <a:schemeClr val="tx1"/>
                </a:solidFill>
              </a:rPr>
              <a:t>Profile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настроить параметры </a:t>
            </a:r>
            <a:r>
              <a:rPr lang="ru-RU" dirty="0">
                <a:solidFill>
                  <a:srgbClr val="FF0000"/>
                </a:solidFill>
              </a:rPr>
              <a:t>почтового профиля для работы с </a:t>
            </a:r>
            <a:r>
              <a:rPr lang="ru-RU" dirty="0" err="1">
                <a:solidFill>
                  <a:srgbClr val="FF0000"/>
                </a:solidFill>
              </a:rPr>
              <a:t>Database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Mail</a:t>
            </a:r>
            <a:r>
              <a:rPr lang="ru-RU" dirty="0">
                <a:solidFill>
                  <a:srgbClr val="FF0000"/>
                </a:solidFill>
              </a:rPr>
              <a:t>: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• указать имя почтового профиля и описание,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• настроить учетные записи для работы по протоколу SMTP. Для одного почтового профиля вы вполне можете настроить несколько почтовых профилей SMTP.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• определить используемый SQL </a:t>
            </a:r>
            <a:r>
              <a:rPr lang="ru-RU" dirty="0" err="1">
                <a:solidFill>
                  <a:schemeClr val="tx1"/>
                </a:solidFill>
              </a:rPr>
              <a:t>Server</a:t>
            </a:r>
            <a:r>
              <a:rPr lang="ru-RU" dirty="0">
                <a:solidFill>
                  <a:schemeClr val="tx1"/>
                </a:solidFill>
              </a:rPr>
              <a:t> адрес электронной почты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• указать почтовый сервер (и номер порта для подключения по протоколу SMTP), </a:t>
            </a:r>
          </a:p>
          <a:p>
            <a:pPr marL="45720" indent="0" algn="just">
              <a:buNone/>
            </a:pPr>
            <a:r>
              <a:rPr lang="ru-RU" dirty="0">
                <a:solidFill>
                  <a:schemeClr val="tx1"/>
                </a:solidFill>
              </a:rPr>
              <a:t>• указать режим аутентификации при подключении к почтовому серверу. </a:t>
            </a:r>
          </a:p>
          <a:p>
            <a:pPr algn="just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71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Mail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9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323529" y="1719070"/>
            <a:ext cx="8465364" cy="4878281"/>
          </a:xfrm>
        </p:spPr>
        <p:txBody>
          <a:bodyPr>
            <a:normAutofit/>
          </a:bodyPr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Профиль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 является упорядоченной коллекцией связанных учетных записей компонента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ru-RU" dirty="0" smtClean="0">
                <a:solidFill>
                  <a:schemeClr val="tx1"/>
                </a:solidFill>
              </a:rPr>
              <a:t>Профили </a:t>
            </a:r>
            <a:r>
              <a:rPr lang="ru-RU" dirty="0">
                <a:solidFill>
                  <a:schemeClr val="tx1"/>
                </a:solidFill>
              </a:rPr>
              <a:t>повышают надежность в тех случаях, когда сервер электронной почты становится недоступным или не может обрабатывать сообщения. </a:t>
            </a:r>
          </a:p>
          <a:p>
            <a:pPr algn="just"/>
            <a:r>
              <a:rPr lang="ru-RU" dirty="0">
                <a:solidFill>
                  <a:schemeClr val="tx1"/>
                </a:solidFill>
              </a:rPr>
              <a:t>Каждая учетная запись в профиле имеет свой порядковый номер. </a:t>
            </a:r>
          </a:p>
          <a:p>
            <a:pPr algn="just"/>
            <a:r>
              <a:rPr lang="ru-RU" dirty="0">
                <a:solidFill>
                  <a:schemeClr val="tx1"/>
                </a:solidFill>
              </a:rPr>
              <a:t>Порядковый номер определяет очередность, в которой компонент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 использует учетные записи в профиле.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72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Почтовый профиль</a:t>
            </a:r>
          </a:p>
        </p:txBody>
      </p:sp>
    </p:spTree>
    <p:extLst>
      <p:ext uri="{BB962C8B-B14F-4D97-AF65-F5344CB8AC3E}">
        <p14:creationId xmlns:p14="http://schemas.microsoft.com/office/powerpoint/2010/main" val="172788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Для новых сообщений электронной почты компонент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 использует последнюю учетную запись, с которой было успешно отправлено сообщение, либо учетную запись с наименьшим порядковым номером, если сообщения еще не отправлялись.</a:t>
            </a:r>
          </a:p>
          <a:p>
            <a:pPr algn="just"/>
            <a:r>
              <a:rPr lang="ru-RU" dirty="0" smtClean="0">
                <a:solidFill>
                  <a:schemeClr val="tx1"/>
                </a:solidFill>
              </a:rPr>
              <a:t>Если </a:t>
            </a:r>
            <a:r>
              <a:rPr lang="ru-RU" dirty="0">
                <a:solidFill>
                  <a:schemeClr val="tx1"/>
                </a:solidFill>
              </a:rPr>
              <a:t>эта учетная запись недоступна, компонент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 использует учетную запись со следующим порядковым номером и так далее, пока либо сообщение не будет успешно отослано, либо при использовании учетной записи с наибольшим порядковым номером также не произойдет ошибка.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73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Почтовый профиль</a:t>
            </a:r>
          </a:p>
        </p:txBody>
      </p:sp>
    </p:spTree>
    <p:extLst>
      <p:ext uri="{BB962C8B-B14F-4D97-AF65-F5344CB8AC3E}">
        <p14:creationId xmlns:p14="http://schemas.microsoft.com/office/powerpoint/2010/main" val="310145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>
                <a:solidFill>
                  <a:schemeClr val="tx1"/>
                </a:solidFill>
              </a:rPr>
              <a:t>Если отправка сообщения от имени учетной записи с наибольшим порядковым номером также завершилась ошибкой, то компонент </a:t>
            </a:r>
            <a:r>
              <a:rPr lang="ru-RU" dirty="0" err="1">
                <a:solidFill>
                  <a:schemeClr val="tx1"/>
                </a:solidFill>
              </a:rPr>
              <a:t>Database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Mail</a:t>
            </a:r>
            <a:r>
              <a:rPr lang="ru-RU" dirty="0">
                <a:solidFill>
                  <a:schemeClr val="tx1"/>
                </a:solidFill>
              </a:rPr>
              <a:t> приостанавливает попытки отправки сообщения на заданное параметром </a:t>
            </a:r>
            <a:r>
              <a:rPr lang="ru-RU" b="1" dirty="0" err="1">
                <a:solidFill>
                  <a:schemeClr val="tx1"/>
                </a:solidFill>
              </a:rPr>
              <a:t>AccountRetryDelay</a:t>
            </a:r>
            <a:r>
              <a:rPr lang="ru-RU" dirty="0">
                <a:solidFill>
                  <a:schemeClr val="tx1"/>
                </a:solidFill>
              </a:rPr>
              <a:t> время хранимой процедуры </a:t>
            </a:r>
            <a:r>
              <a:rPr lang="ru-RU" b="1" dirty="0" err="1">
                <a:solidFill>
                  <a:schemeClr val="tx1"/>
                </a:solidFill>
              </a:rPr>
              <a:t>sysmail_configure_sp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ru-RU" dirty="0" smtClean="0">
                <a:solidFill>
                  <a:schemeClr val="tx1"/>
                </a:solidFill>
              </a:rPr>
              <a:t>Затем </a:t>
            </a:r>
            <a:r>
              <a:rPr lang="ru-RU" dirty="0">
                <a:solidFill>
                  <a:schemeClr val="tx1"/>
                </a:solidFill>
              </a:rPr>
              <a:t>возобновляет их, начиная с учетной записи с наименьшим порядковым </a:t>
            </a:r>
            <a:r>
              <a:rPr lang="ru-RU" dirty="0" smtClean="0">
                <a:solidFill>
                  <a:schemeClr val="tx1"/>
                </a:solidFill>
              </a:rPr>
              <a:t>номером.</a:t>
            </a:r>
          </a:p>
          <a:p>
            <a:pPr algn="just"/>
            <a:r>
              <a:rPr lang="ru-RU" dirty="0" smtClean="0">
                <a:solidFill>
                  <a:schemeClr val="tx1"/>
                </a:solidFill>
              </a:rPr>
              <a:t>Параметр</a:t>
            </a:r>
            <a:r>
              <a:rPr lang="ru-RU" dirty="0">
                <a:solidFill>
                  <a:schemeClr val="tx1"/>
                </a:solidFill>
              </a:rPr>
              <a:t> </a:t>
            </a:r>
            <a:r>
              <a:rPr lang="ru-RU" b="1" dirty="0" err="1">
                <a:solidFill>
                  <a:schemeClr val="tx1"/>
                </a:solidFill>
              </a:rPr>
              <a:t>AccountRetryAttempts</a:t>
            </a:r>
            <a:r>
              <a:rPr lang="ru-RU" dirty="0">
                <a:solidFill>
                  <a:schemeClr val="tx1"/>
                </a:solidFill>
              </a:rPr>
              <a:t> хранимой процедуры </a:t>
            </a:r>
            <a:r>
              <a:rPr lang="ru-RU" b="1" dirty="0" err="1">
                <a:solidFill>
                  <a:schemeClr val="tx1"/>
                </a:solidFill>
              </a:rPr>
              <a:t>sysmail_configure_sp</a:t>
            </a:r>
            <a:r>
              <a:rPr lang="ru-RU" dirty="0">
                <a:solidFill>
                  <a:schemeClr val="tx1"/>
                </a:solidFill>
              </a:rPr>
              <a:t> используется для указания количества попыток отправки сообщений электронной почты, перебирающих все учетные записи указанного профиля.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74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Почтовый профиль</a:t>
            </a:r>
          </a:p>
        </p:txBody>
      </p:sp>
    </p:spTree>
    <p:extLst>
      <p:ext uri="{BB962C8B-B14F-4D97-AF65-F5344CB8AC3E}">
        <p14:creationId xmlns:p14="http://schemas.microsoft.com/office/powerpoint/2010/main" val="169487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75</a:t>
            </a:fld>
            <a:endParaRPr lang="ru-RU"/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Mail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1916832"/>
            <a:ext cx="8460432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600" u="sng" dirty="0"/>
              <a:t>Открытый</a:t>
            </a:r>
            <a:r>
              <a:rPr lang="ru-RU" sz="2600" dirty="0"/>
              <a:t> профиль дает возможность всем пользователям получать доступ к базе данных </a:t>
            </a:r>
            <a:r>
              <a:rPr lang="ru-RU" sz="2600" b="1" dirty="0" err="1"/>
              <a:t>msdb</a:t>
            </a:r>
            <a:r>
              <a:rPr lang="ru-RU" sz="2600" dirty="0"/>
              <a:t> , отправив туда почтовое сообщение из этого профиля. </a:t>
            </a:r>
            <a:endParaRPr lang="en-US" sz="26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600" u="sng" dirty="0"/>
              <a:t>Персональный</a:t>
            </a:r>
            <a:r>
              <a:rPr lang="ru-RU" sz="2600" dirty="0"/>
              <a:t> профиль может использоваться как пользователем, так и ролью.</a:t>
            </a:r>
            <a:endParaRPr lang="en-US" sz="2600" dirty="0"/>
          </a:p>
          <a:p>
            <a:pPr algn="just"/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591733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76</a:t>
            </a:fld>
            <a:endParaRPr lang="ru-RU"/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Mail</a:t>
            </a:r>
            <a:endParaRPr lang="ru-RU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58" y="1732856"/>
            <a:ext cx="8159064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83784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" y="1623462"/>
            <a:ext cx="5127104" cy="4976369"/>
          </a:xfrm>
          <a:prstGeom prst="rect">
            <a:avLst/>
          </a:prstGeom>
        </p:spPr>
      </p:pic>
      <p:sp>
        <p:nvSpPr>
          <p:cNvPr id="7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Mail</a:t>
            </a:r>
            <a:endParaRPr lang="ru-RU" dirty="0"/>
          </a:p>
        </p:txBody>
      </p:sp>
      <p:sp>
        <p:nvSpPr>
          <p:cNvPr id="8" name="Объект 1"/>
          <p:cNvSpPr>
            <a:spLocks noGrp="1"/>
          </p:cNvSpPr>
          <p:nvPr>
            <p:ph idx="1"/>
          </p:nvPr>
        </p:nvSpPr>
        <p:spPr>
          <a:xfrm>
            <a:off x="5593908" y="3243720"/>
            <a:ext cx="3168352" cy="1277881"/>
          </a:xfrm>
        </p:spPr>
        <p:txBody>
          <a:bodyPr>
            <a:normAutofit fontScale="70000" lnSpcReduction="20000"/>
          </a:bodyPr>
          <a:lstStyle/>
          <a:p>
            <a:pPr marL="45720" indent="0" algn="just">
              <a:buNone/>
            </a:pPr>
            <a:r>
              <a:rPr lang="ru-RU" sz="1800" dirty="0" smtClean="0">
                <a:solidFill>
                  <a:schemeClr val="tx1"/>
                </a:solidFill>
              </a:rPr>
              <a:t>Все </a:t>
            </a:r>
            <a:r>
              <a:rPr lang="ru-RU" sz="1800" dirty="0">
                <a:solidFill>
                  <a:schemeClr val="tx1"/>
                </a:solidFill>
              </a:rPr>
              <a:t>эти поля вам нужно будет заполнить «под себя». Например, </a:t>
            </a:r>
            <a:r>
              <a:rPr lang="ru-RU" sz="1800" dirty="0" smtClean="0">
                <a:solidFill>
                  <a:schemeClr val="tx1"/>
                </a:solidFill>
              </a:rPr>
              <a:t>если </a:t>
            </a:r>
            <a:r>
              <a:rPr lang="ru-RU" sz="1800" dirty="0">
                <a:solidFill>
                  <a:schemeClr val="tx1"/>
                </a:solidFill>
              </a:rPr>
              <a:t>внутренний почтовый сервер не требует авторизации для отправки писем </a:t>
            </a:r>
            <a:r>
              <a:rPr lang="ru-RU" sz="1800" dirty="0" smtClean="0">
                <a:solidFill>
                  <a:schemeClr val="tx1"/>
                </a:solidFill>
              </a:rPr>
              <a:t>, можно </a:t>
            </a:r>
            <a:r>
              <a:rPr lang="ru-RU" sz="1800" dirty="0">
                <a:solidFill>
                  <a:schemeClr val="tx1"/>
                </a:solidFill>
              </a:rPr>
              <a:t>выбрать пункт «</a:t>
            </a:r>
            <a:r>
              <a:rPr lang="ru-RU" sz="1800" dirty="0" err="1">
                <a:solidFill>
                  <a:schemeClr val="tx1"/>
                </a:solidFill>
              </a:rPr>
              <a:t>Anonymous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  <a:r>
              <a:rPr lang="ru-RU" sz="1800" dirty="0" err="1">
                <a:solidFill>
                  <a:schemeClr val="tx1"/>
                </a:solidFill>
              </a:rPr>
              <a:t>authentication</a:t>
            </a:r>
            <a:r>
              <a:rPr lang="ru-RU" sz="1800" dirty="0">
                <a:solidFill>
                  <a:schemeClr val="tx1"/>
                </a:solidFill>
              </a:rPr>
              <a:t>». </a:t>
            </a:r>
          </a:p>
        </p:txBody>
      </p:sp>
    </p:spTree>
    <p:extLst>
      <p:ext uri="{BB962C8B-B14F-4D97-AF65-F5344CB8AC3E}">
        <p14:creationId xmlns:p14="http://schemas.microsoft.com/office/powerpoint/2010/main" val="33689172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78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34" y="1783070"/>
            <a:ext cx="5279227" cy="4709170"/>
          </a:xfrm>
          <a:prstGeom prst="rect">
            <a:avLst/>
          </a:prstGeom>
        </p:spPr>
      </p:pic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19872" y="1795849"/>
            <a:ext cx="4976757" cy="4406900"/>
          </a:xfrm>
          <a:prstGeom prst="rect">
            <a:avLst/>
          </a:prstGeom>
        </p:spPr>
      </p:pic>
      <p:sp>
        <p:nvSpPr>
          <p:cNvPr id="7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Настройка SQL </a:t>
            </a:r>
            <a:r>
              <a:rPr lang="ru-RU" b="1" dirty="0" err="1"/>
              <a:t>Server</a:t>
            </a:r>
            <a:r>
              <a:rPr lang="ru-RU" b="1" dirty="0"/>
              <a:t> </a:t>
            </a:r>
            <a:r>
              <a:rPr lang="ru-RU" b="1" dirty="0" err="1" smtClean="0"/>
              <a:t>Agent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76544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79</a:t>
            </a:fld>
            <a:endParaRPr lang="ru-RU"/>
          </a:p>
        </p:txBody>
      </p:sp>
      <p:sp>
        <p:nvSpPr>
          <p:cNvPr id="6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Mail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33563"/>
            <a:ext cx="7043738" cy="4546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581688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80</a:t>
            </a:fld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00808"/>
            <a:ext cx="6410325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dirty="0"/>
              <a:t>Настройка  </a:t>
            </a:r>
            <a:r>
              <a:rPr lang="ru-RU" dirty="0" err="1"/>
              <a:t>Database</a:t>
            </a:r>
            <a:r>
              <a:rPr lang="ru-RU" dirty="0"/>
              <a:t> </a:t>
            </a:r>
            <a:r>
              <a:rPr lang="ru-RU" dirty="0" err="1"/>
              <a:t>Mail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70021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2621041"/>
            <a:ext cx="8407400" cy="2603344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81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</p:spPr>
        <p:txBody>
          <a:bodyPr/>
          <a:lstStyle/>
          <a:p>
            <a:r>
              <a:rPr lang="ru-RU" b="1" dirty="0"/>
              <a:t>Настройка SQL </a:t>
            </a:r>
            <a:r>
              <a:rPr lang="ru-RU" b="1" dirty="0" err="1"/>
              <a:t>Server</a:t>
            </a:r>
            <a:r>
              <a:rPr lang="ru-RU" b="1" dirty="0"/>
              <a:t> </a:t>
            </a:r>
            <a:r>
              <a:rPr lang="ru-RU" b="1" dirty="0" err="1" smtClean="0"/>
              <a:t>Agent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587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ru-RU" sz="4000" dirty="0"/>
              <a:t>СПАСИБО ЗА ВНИМАНИЕ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6B9E9-89A4-42A5-907C-C2570D690DFD}" type="slidenum">
              <a:rPr lang="ru-RU" smtClean="0"/>
              <a:pPr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537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Сетка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3204</TotalTime>
  <Words>4304</Words>
  <Application>Microsoft Office PowerPoint</Application>
  <PresentationFormat>Экран (4:3)</PresentationFormat>
  <Paragraphs>418</Paragraphs>
  <Slides>82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82</vt:i4>
      </vt:variant>
    </vt:vector>
  </HeadingPairs>
  <TitlesOfParts>
    <vt:vector size="88" baseType="lpstr">
      <vt:lpstr>Arial</vt:lpstr>
      <vt:lpstr>Calibri</vt:lpstr>
      <vt:lpstr>Franklin Gothic Medium</vt:lpstr>
      <vt:lpstr>Wingdings</vt:lpstr>
      <vt:lpstr>Wingdings 2</vt:lpstr>
      <vt:lpstr>Сетка</vt:lpstr>
      <vt:lpstr>Презентация PowerPoint</vt:lpstr>
      <vt:lpstr>Модели восстановления</vt:lpstr>
      <vt:lpstr>модели восстановления</vt:lpstr>
      <vt:lpstr>ТерминОлогия восстановления БД из резервной копии </vt:lpstr>
      <vt:lpstr>Общий план восстановления из резервной копии  </vt:lpstr>
      <vt:lpstr>Общий план восстановления из резервной копии  </vt:lpstr>
      <vt:lpstr>Общий план восстановления из резервной копии  </vt:lpstr>
      <vt:lpstr>Общий план восстановления из резервной копии </vt:lpstr>
      <vt:lpstr>Подготовка к восстановлению  </vt:lpstr>
      <vt:lpstr>Подготовка к восстановлению  </vt:lpstr>
      <vt:lpstr>Подготовка к восстановлению  </vt:lpstr>
      <vt:lpstr>Подготовка к восстановлению  </vt:lpstr>
      <vt:lpstr>Восстановление</vt:lpstr>
      <vt:lpstr>Параметры, используемые при восстановлении БД из резервной копии </vt:lpstr>
      <vt:lpstr>Параметры, используемые при восстановлении БД из резервной копии </vt:lpstr>
      <vt:lpstr>Параметры, используемые при восстановлении БД из резервной копии </vt:lpstr>
      <vt:lpstr>Параметры, используемые при восстановлении БД из резервной копии </vt:lpstr>
      <vt:lpstr>Параметры, используемые при восстановлении БД из резервной копии </vt:lpstr>
      <vt:lpstr>Дополнительные параметры восстановления </vt:lpstr>
      <vt:lpstr>Дополнительные параметры восстановления </vt:lpstr>
      <vt:lpstr>Дополнительные параметры восстановления </vt:lpstr>
      <vt:lpstr>Дополнительные параметры восстановления </vt:lpstr>
      <vt:lpstr>параметры восстановления</vt:lpstr>
      <vt:lpstr>параметры восстановления</vt:lpstr>
      <vt:lpstr>восстановлениЕ</vt:lpstr>
      <vt:lpstr>Восстановление базы данных в оперативном режиме (online) </vt:lpstr>
      <vt:lpstr>Восстановление базы данных в оперативном режиме (online) </vt:lpstr>
      <vt:lpstr>Восстановление отдельных страниц базы данных </vt:lpstr>
      <vt:lpstr>Восстановление отдельных страниц базы данных </vt:lpstr>
      <vt:lpstr>Восстановление отдельных страниц базы данных </vt:lpstr>
      <vt:lpstr>Восстановление отдельных страниц базы данных </vt:lpstr>
      <vt:lpstr>Восстановление системных баз данных</vt:lpstr>
      <vt:lpstr>Восстановление системных баз данных</vt:lpstr>
      <vt:lpstr>Утилиты MS SQL SERVER</vt:lpstr>
      <vt:lpstr>Утилиты MS SQL SERVER</vt:lpstr>
      <vt:lpstr>Утилиты MS SQL SERVER</vt:lpstr>
      <vt:lpstr>Утилиты MS SQL SERVER</vt:lpstr>
      <vt:lpstr>Восстановление базы данных master</vt:lpstr>
      <vt:lpstr>Восстановление системных баз данных</vt:lpstr>
      <vt:lpstr>Автоматизация задач в SQL Server</vt:lpstr>
      <vt:lpstr>Автоматизация задач в SQL Server</vt:lpstr>
      <vt:lpstr>Автоматизация задач в SQL Server</vt:lpstr>
      <vt:lpstr>Автоматизация задач в SQL Server</vt:lpstr>
      <vt:lpstr>Мастер плана обслуживания</vt:lpstr>
      <vt:lpstr>мастер планов</vt:lpstr>
      <vt:lpstr>мастер планов</vt:lpstr>
      <vt:lpstr>мастер планов</vt:lpstr>
      <vt:lpstr>SQL Server Agent</vt:lpstr>
      <vt:lpstr>Параметры настройки SQL Server Agent</vt:lpstr>
      <vt:lpstr>SQL Server Agent</vt:lpstr>
      <vt:lpstr>SQL Server Agent</vt:lpstr>
      <vt:lpstr>SQL Server Agent</vt:lpstr>
      <vt:lpstr>Презентация PowerPoint</vt:lpstr>
      <vt:lpstr>Параметры этапов заданий</vt:lpstr>
      <vt:lpstr>Параметры этапов заданий</vt:lpstr>
      <vt:lpstr>Параметры этапов заданий</vt:lpstr>
      <vt:lpstr>Параметры этапов заданий</vt:lpstr>
      <vt:lpstr>Оператор Извещения</vt:lpstr>
      <vt:lpstr>предупреждения</vt:lpstr>
      <vt:lpstr>предупреждения </vt:lpstr>
      <vt:lpstr>Запуск заданий</vt:lpstr>
      <vt:lpstr>Настройка расписания заданий </vt:lpstr>
      <vt:lpstr>Презентация PowerPoint</vt:lpstr>
      <vt:lpstr>Автоматизация задач в SQL Server</vt:lpstr>
      <vt:lpstr>Database Mail </vt:lpstr>
      <vt:lpstr>Основные возможности Database Mail</vt:lpstr>
      <vt:lpstr>Настройка  Database Mail</vt:lpstr>
      <vt:lpstr>Настройка SQL Server Agent</vt:lpstr>
      <vt:lpstr>Презентация PowerPoint</vt:lpstr>
      <vt:lpstr>Настройка  Database Mail</vt:lpstr>
      <vt:lpstr>Настройка  Database Mail</vt:lpstr>
      <vt:lpstr>Почтовый профиль</vt:lpstr>
      <vt:lpstr>Почтовый профиль</vt:lpstr>
      <vt:lpstr>Почтовый профиль</vt:lpstr>
      <vt:lpstr>Настройка  Database Mail</vt:lpstr>
      <vt:lpstr>Настройка  Database Mail</vt:lpstr>
      <vt:lpstr>Настройка  Database Mail</vt:lpstr>
      <vt:lpstr>Настройка SQL Server Agent</vt:lpstr>
      <vt:lpstr>Настройка  Database Mail</vt:lpstr>
      <vt:lpstr>Настройка  Database Mail</vt:lpstr>
      <vt:lpstr>Настройка SQL Server Agent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</dc:creator>
  <cp:lastModifiedBy>Ирина</cp:lastModifiedBy>
  <cp:revision>465</cp:revision>
  <dcterms:created xsi:type="dcterms:W3CDTF">2015-04-12T07:43:08Z</dcterms:created>
  <dcterms:modified xsi:type="dcterms:W3CDTF">2023-05-14T15:08:29Z</dcterms:modified>
</cp:coreProperties>
</file>